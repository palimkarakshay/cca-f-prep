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Content Pack Management Platform — B2B Prospect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Slide-style deck for a 30-minute discovery call with a prospective B2B customer (HR / L&amp;D / Compliance buyer). Buyer-language, not engineering-language. Slide breaks are marked by ---.
Companion docs: ./content-pack-management-plan.md, ./deck-overview.md, ./deck-investor.md, ./deck-collaborator.md.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Continuing Education, on Your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learning platform where you control the catalog, your subject-matter expert approves every piece of content, and AI drafts the routine work so your team focuses on judgment.</a:t>
            </a:r>
          </a:p>
          <a:p>
            <a:pPr algn="l">
              <a:spcAft>
                <a:spcPts val="800"/>
              </a:spcAft>
            </a:pPr>
            <a:r>
              <a:rPr sz="1800"/>
              <a:t>For: [Prospect Company] • Function: [HR / L&amp;D / Compliance / Engineering Onboarding]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problem you have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Friction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Off-the-shelf 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Curated catalog rarely covers your team's actual topics; updates lag your business by 6–12 months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Build it in-house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Cost: $200k+ and 6+ months for a content team that has to keep authoring forever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Raw AI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Quality is uneven; no audit trail; legal won't let you ship un-reviewed AI content to staff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Status quo (PDFs + slides)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 tracking, no quizzes, employees don't read 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we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managed learning platform where:</a:t>
            </a:r>
          </a:p>
          <a:p>
            <a:pPr/>
            <a:r>
              <a:rPr sz="1600"/>
              <a:t>Your topics, drafted on demand — your administrator types a topic, AI drafts a lesson + quiz from your knowledge files (PDFs, slides, runbooks).</a:t>
            </a:r>
          </a:p>
          <a:p>
            <a:pPr/>
            <a:r>
              <a:rPr sz="1600"/>
              <a:t>Your subject-matter expert reviews before publish — every piece of content goes through your SME's queue. They approve, edit, or reject.</a:t>
            </a:r>
          </a:p>
          <a:p>
            <a:pPr/>
            <a:r>
              <a:rPr sz="1600"/>
              <a:t>Your employees learn at their own pace — short lessons, 3-question quizzes, mobile-first.</a:t>
            </a:r>
          </a:p>
          <a:p>
            <a:pPr>
              <a:spcAft>
                <a:spcPts val="600"/>
              </a:spcAft>
            </a:pPr>
            <a:r>
              <a:rPr sz="1600"/>
              <a:t>You see the data — completion rates, weak spots, requested topics, quality signals.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How it works (the loop)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latin typeface="Consolas"/>
              </a:rPr>
              <a:t>You upload knowledge files (PDFs, slides, runbooks)
         │
         ▼
Your admin types a topic ("Q4 SOX changes")
         │
         ▼
AI drafts lesson + 3-question quiz
         │
         ▼
Validators screen for known failure modes (23 of them)
         │
         ▼
Stronger reviewer model audits the drafter
         │
         ▼
Your SME reviews → approve / edit / reject
         │
         ▼
Employees see the new lesson; progress tracked
         │
         ▼
You see what they got wrong → next topic surfaces</a:t>
            </a:r>
          </a:p>
          <a:p>
            <a:pPr algn="l">
              <a:spcAft>
                <a:spcPts val="800"/>
              </a:spcAft>
            </a:pPr>
            <a:r>
              <a:rPr sz="1800"/>
              <a:t>End-to-end: typically 24 hours from topic request to live lesson.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Where AI helps — and where it doesn't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Your SME is always the publish gate. Auto-publish is opt-in per catalog and off by default.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Where AI helps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Where AI does NOT decide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Drafting initial copy from your knowledge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Whether content is fit to publish (your SME decides)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Suggesting quiz questions and distractors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Final wording on regulated content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Catching duplicate topic requests from learners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Setting your company's policy or risk tolerance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Surfacing topics employees ask about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Anything legal / HR / safety-sensitive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Quality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This is the part most AI-content products skip. Ours:</a:t>
            </a:r>
          </a:p>
          <a:p>
            <a:pPr/>
            <a:r>
              <a:rPr sz="1600"/>
              <a:t>23 documented failure modes screened automatically before any content reaches your SME (biased answer keys, fabricated facts, weak distractors, mid-quiz spoilers, etc.).</a:t>
            </a:r>
          </a:p>
          <a:p>
            <a:pPr/>
            <a:r>
              <a:rPr sz="1600"/>
              <a:t>Answer-justification audit — for every quiz question, the model must point at the exact span of your knowledge file that justifies the marked answer. No span, no publish.</a:t>
            </a:r>
          </a:p>
          <a:p>
            <a:pPr/>
            <a:r>
              <a:rPr sz="1600"/>
              <a:t>Stronger model audits weaker model — the reviewer model is more capable than the drafter, catching systematic blind spots.</a:t>
            </a:r>
          </a:p>
          <a:p>
            <a:pPr>
              <a:spcAft>
                <a:spcPts val="600"/>
              </a:spcAft>
            </a:pPr>
            <a:r>
              <a:rPr sz="1600"/>
              <a:t>Pause-not-pull post-publish — if a question performs unusually badly across many learners, it's hidden for new sessions only. Active quizzes finish as-shown. No mid-experience surprises for your staff.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Outcomes — measured, not promised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Most learning vendors report seat-time. We report against the Kirkpatrick four-level evaluation framework every quarter:</a:t>
            </a:r>
          </a:p>
          <a:p>
            <a:pPr algn="l">
              <a:spcAft>
                <a:spcPts val="800"/>
              </a:spcAft>
            </a:pPr>
            <a:r>
              <a:rPr sz="1800"/>
              <a:t>We report against all four every quarter — not vanity metrics. If we miss a stated target, you see it before we do. Industry baseline for self-paced corporate completion: 12–15% (KPI Depot 2026). Our cohort target: ≥ 60%.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4028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it measures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 metric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L1 — 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Did learners value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NPS post-section; CES (effort score)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L2 —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Did they learn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Mock pass-rate trajectory; calibration Δ (how well learners' confidence matches outcomes — the metric that predicts real-job competence)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L3 —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Did they apply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Course-completion rate; D1 / D7 / D30 cohort retention curves; manager-survey self-report on observed behaviour change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L4 —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Did the business benefit?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Compliance / certification pass-rate; for regulated tenants, audit-finding deltas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How we make your SMEs effective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Subject-matter experts know their material. Most can't teach it without specific scaffolding — Cognitive Task Analysis research finds SMEs omit ~70% of decisions when self-narrating complex tasks (Clark, Feldon, van Merriënboer, Yates &amp; Early). We close that gap:</a:t>
            </a:r>
          </a:p>
          <a:p>
            <a:pPr>
              <a:spcAft>
                <a:spcPts val="600"/>
              </a:spcAft>
            </a:pPr>
            <a:r>
              <a:rPr sz="1600"/>
              <a:t>CTA intake script — five required probes (novice-error /</a:t>
            </a:r>
          </a:p>
          <a:p>
            <a:pPr algn="l">
              <a:spcAft>
                <a:spcPts val="800"/>
              </a:spcAft>
            </a:pPr>
            <a:r>
              <a:rPr sz="1800"/>
              <a:t>one-principle / worked-example pair / boundary case / nearest confusable). No SME-narration of expertise; SME answers structured questions instead. Lee 2004: +46% post-training learning gain on CTA-built instruction vs expert-narrated, Cohen's d ≈ 1.72.</a:t>
            </a:r>
          </a:p>
          <a:p>
            <a:pPr>
              <a:spcAft>
                <a:spcPts val="600"/>
              </a:spcAft>
            </a:pPr>
            <a:r>
              <a:rPr sz="1600"/>
              <a:t>Backward-design template — write the assessment first, then the</a:t>
            </a:r>
          </a:p>
          <a:p>
            <a:pPr algn="l">
              <a:spcAft>
                <a:spcPts val="800"/>
              </a:spcAft>
            </a:pPr>
            <a:r>
              <a:rPr sz="1800"/>
              <a:t>lesson. Eliminates unmeasurable lessons. (Wiggins &amp; McTighe 1998 — Understanding by Design.)</a:t>
            </a:r>
          </a:p>
          <a:p>
            <a:pPr>
              <a:spcAft>
                <a:spcPts val="600"/>
              </a:spcAft>
            </a:pPr>
            <a:r>
              <a:rPr sz="1600"/>
              <a:t>Worked-example pair required — mandatory field, not optional</a:t>
            </a:r>
          </a:p>
          <a:p>
            <a:pPr algn="l">
              <a:spcAft>
                <a:spcPts val="800"/>
              </a:spcAft>
            </a:pPr>
            <a:r>
              <a:rPr sz="1800"/>
              <a:t>enrichment. (Sweller, van Merriënboer &amp; Paas 2019.)</a:t>
            </a:r>
          </a:p>
          <a:p>
            <a:pPr>
              <a:spcAft>
                <a:spcPts val="600"/>
              </a:spcAft>
            </a:pPr>
            <a:r>
              <a:rPr sz="1600"/>
              <a:t>Expert-blind-spot prompt at submission — "what would a novice get</a:t>
            </a:r>
          </a:p>
          <a:p>
            <a:pPr algn="l">
              <a:spcAft>
                <a:spcPts val="800"/>
              </a:spcAft>
            </a:pPr>
            <a:r>
              <a:rPr sz="1800"/>
              <a:t>wrong here?" (Nathan &amp; Petrosino 2003 — expert blind spot.)</a:t>
            </a:r>
          </a:p>
          <a:p>
            <a:pPr>
              <a:spcAft>
                <a:spcPts val="600"/>
              </a:spcAft>
            </a:pPr>
            <a:r>
              <a:rPr sz="1600"/>
              <a:t>≤ 1-hour SME-to-publishable-lesson commitment. End-to-end intake</a:t>
            </a:r>
          </a:p>
          <a:p>
            <a:pPr algn="l">
              <a:spcAft>
                <a:spcPts val="800"/>
              </a:spcAft>
            </a:pPr>
            <a:r>
              <a:rPr sz="1800"/>
              <a:t>→ critic → publishable. We hold ourselves to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Your three problems → our three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Buyer-language summary. Every answer is a shipped feature in the platform with a named research source — not a slide-ware promise.</a:t>
            </a:r>
          </a:p>
          <a:p>
            <a:pPr algn="l">
              <a:spcAft>
                <a:spcPts val="800"/>
              </a:spcAft>
            </a:pPr>
            <a:r>
              <a:rPr sz="1800"/>
              <a:t>Problem 1 — Your learners forget what they learned. Industry self- paced course-completion is 12–15%, and even completers retain ~25% of content by day 6 without review.</a:t>
            </a:r>
          </a:p>
          <a:p>
            <a:pPr algn="l">
              <a:spcAft>
                <a:spcPts val="800"/>
              </a:spcAft>
            </a:pPr>
            <a:r>
              <a:rPr sz="1800"/>
              <a:t>→ Our answer. A spaced-review banner on every learner's dashboard with one-tap start; expanding-interval scheduling (1/3/7/14/30d); web- push reminders anchored to the learner's own modal study-time; cohort surface for the relatedness lift that converts MOOC 3–10% completion to cohort 75–96%.</a:t>
            </a:r>
          </a:p>
          <a:p>
            <a:pPr algn="l">
              <a:spcAft>
                <a:spcPts val="800"/>
              </a:spcAft>
            </a:pPr>
            <a:r>
              <a:rPr sz="1800"/>
              <a:t>→ Sources. Cepeda et al. 2008 Psych Sci (~2× retention vs massed practice); Roediger &amp; Karpicke 2006 (~50% lift on retrieval practice); Maven / Reich &amp; Ruipérez-Valiente 2019 Science (cohort effect); Mazal 2022 / Duolingo (CURR +21%, DAU 4.5× from streak design).</a:t>
            </a:r>
          </a:p>
          <a:p>
            <a:pPr algn="l">
              <a:spcAft>
                <a:spcPts val="800"/>
              </a:spcAft>
            </a:pPr>
            <a:r>
              <a:rPr sz="1800"/>
              <a:t>Problem 2 — Your SMEs are experts but not teachers. They know the material. They can't transfer it. Cognitive Task Analysis research finds they omit ~70% of decisions when self-narrating, so the resulting instruction is ~46% less effective than CTA-built equivalents (Lee 2004, Cohen's d ≈ 1.72).</a:t>
            </a:r>
          </a:p>
          <a:p>
            <a:pPr algn="l">
              <a:spcAft>
                <a:spcPts val="800"/>
              </a:spcAft>
            </a:pPr>
            <a:r>
              <a:rPr sz="1800"/>
              <a:t>→ Our answer. A 5-probe CTA-style intake (novice-error / one- principle / worked-example pair / boundary case / nearest confusable) that the admin app requires — your SMEs answer five structured questions instead of writing prose. Backward-design "write the test first" mode locks the lesson editor until a passing assessment is authored. Voice-first / camera-first capture for shop-floor SMEs whose knowledge is tacit (Polanyi 1966). Per-SME blind-spot dashboard surfaces patterns over time so SMEs self-correct.</a:t>
            </a:r>
          </a:p>
          <a:p>
            <a:pPr algn="l">
              <a:spcAft>
                <a:spcPts val="800"/>
              </a:spcAft>
            </a:pPr>
            <a:r>
              <a:rPr sz="1800"/>
              <a:t>→ Sources. Clark, Feldon, van Merriënboer, Yates &amp; Early (CTA); Wiggins &amp; McTighe 1998 (backward design); Sweller / Renkl (worked- example fading); Nathan &amp; Petrosino 2003 (expert blind spot); Ericsson 1993 (deliberate-practice feedback channel).</a:t>
            </a:r>
          </a:p>
          <a:p>
            <a:pPr algn="l">
              <a:spcAft>
                <a:spcPts val="800"/>
              </a:spcAft>
            </a:pPr>
            <a:r>
              <a:rPr sz="1800"/>
              <a:t>Problem 3 — You can't tell whether your learning programme works. Most LMS vendors report seat-time and completion. Neither predicts on-the-job competence; both can be gamed.</a:t>
            </a:r>
          </a:p>
          <a:p>
            <a:pPr algn="l">
              <a:spcAft>
                <a:spcPts val="800"/>
              </a:spcAft>
            </a:pPr>
            <a:r>
              <a:rPr sz="1800"/>
              <a:t>→ Our answer. Kirkpatrick L1–L4 reporting every quarter. The load-bearing metric is calibration Δ — how well learner confidence matches outcomes; it predicts real-job competence in a way completion does not. &lt; 70% completion correlates with 3.5× compliance-violation rate in regulated industries (KPI Depot 2026), so this is not vanity measurement — it monetises directly through reduced incident cost.</a:t>
            </a:r>
          </a:p>
          <a:p>
            <a:pPr algn="l">
              <a:spcAft>
                <a:spcPts val="800"/>
              </a:spcAft>
            </a:pPr>
            <a:r>
              <a:rPr sz="1800"/>
              <a:t>→ Sources. Kirkpatrick 1959 / 2016 four-level framework; Dunlosky &amp; Bjork (calibration / JOL); Kruger &amp; Dunning 1999 (self-assessment miscalibration); KPI Depot 2026 (compliance baseline).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We already know your segment's failure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We don't sell you a generic LMS. We sell you a configuration of one engine to your segment's specific failure mode.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Your segment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already know about your retention / SME problem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ship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Healthcare frontline / clinical SMEs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Schedule-poor (10-min between cases); medico-legal liability shadows speech; CME drives seat-time, not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Voice-first capture + critic-mediated review; Joint Commission / CME outcome reporting built in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Financial services /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Self-paced 18–25% baseline; &lt;70% completion ⇒ 3.5× violation rate (KPI Depot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Audit-trail + role-based publish + L4-Kirkpatrick compliance reporting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Manufacturing / deskless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Tacit / haptic knowledge (Polanyi 1966); ≤ 3-min mobile sessions, offline-capable. 90%+ frontline want mobile-first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Voice-to-text auto-draft for shop-floor SMEs; offline-tolerant mobile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Tech / SaaS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Content stales weekly; SMEs prefer code / README over prose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Markdown-first authoring + code-block awareness in critic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Enterprise distributed-SME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Multi-language, multi-geo; unclear authoring rights; governance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Role-based publish, multi-language critic, version-pin, audit-trail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Single-SME-bottleneck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Bus-factor 1; no redundancy when SME leaves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Explicit succession-of-knowledge tooling — CTA + recorded interview + auto-draft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High-PDI / face-saving cultures (Japan, Korea, India, MENA, LATAM)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SMEs reluctant to expose uncertainty in public artefacts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Leader-endorsed pathway gate; critic copy framed as probe not test; anonymised peer-review surfaces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we do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Tenant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Postgres row-level security; every query carries your tenant context; verified by integration test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Audit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publish, edit, and rejection is logged with author, timestamp, and reason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Data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Self-serve CSV / JSON export of your tenant's content and learner progress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Soft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Nothing is hard-deleted for 90 days; recoverable on request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Every published piece records its drafter, reviewer, validator results, and SME-approval evidence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SOC2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 the roadmap — formal audit triggered at 5 enterprise tenants. We can share our control matrix today.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GDPR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Designed in (data-export, right-to-be-forgotten); EU hosting available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Single sign-on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Clerk Enterprise — SAML, SCIM, OIDC. Your IT team configures once.</a:t>
            </a:r>
          </a:p>
          <a:p>
            <a:pPr/>
            <a:r>
              <a:rPr sz="1600"/>
              <a:t>Webhooks — completion events to your HRIS / Workday / BambooHR.</a:t>
            </a:r>
          </a:p>
          <a:p>
            <a:pPr>
              <a:spcAft>
                <a:spcPts val="600"/>
              </a:spcAft>
            </a:pPr>
            <a:r>
              <a:rPr sz="1600"/>
              <a:t>API — read-only export endpoints for your data warehouse.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Pilot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60-day commercial pilot with mutually defined success criteria:</a:t>
            </a:r>
          </a:p>
          <a:p>
            <a:pPr algn="l">
              <a:spcAft>
                <a:spcPts val="800"/>
              </a:spcAft>
            </a:pPr>
            <a:r>
              <a:rPr sz="1800"/>
              <a:t>No data lock-in. If you don't continue, you get a full export and we delete your tenant.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24028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What's included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Up to 50 employees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Catalogs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Up to 3 catalogs of your choosing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100 generations included; overage at 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SME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1-hour onboarding; ongoing Slack support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Pilot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$5,000, 100% credit toward the first 12 months if you continue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Success criteria (suggested)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≥70% of seats complete ≥1 lesson; SME approval cycle &lt; 48h; ≥1 internally requested topic delivered; ≥ 1 percentage-point calibration-Δ improvement on participating cohort by pilot end (the L2-Kirkpatrick learning-outcome anchor)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Pricing after the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Platform minimum: $100/mo (covers any tier under 20 seats).</a:t>
            </a:r>
          </a:p>
          <a:p>
            <a:pPr algn="l">
              <a:spcAft>
                <a:spcPts val="800"/>
              </a:spcAft>
            </a:pPr>
            <a:r>
              <a:rPr sz="1800"/>
              <a:t>Custom catalogs (drafted from your knowledge files) are included in Pro and Enterprise.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Per learner per month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Public catalogs only, no custom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Professional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Up to 5 custom catalogs, SME role, SSO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Unlimited custom, dedicated support, SAML, audit log export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Timeline — LOI to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happens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Discovery call, scope catalogs, identify SME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LOI signed; provisioning + SSO config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Knowledge file ingestion; first 10 lessons drafted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SME review cycle; first cohort invited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Pilot live; weekly readout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W4–W12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60-day pilot runs; success criteria evaluated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Pilot review → continue / extend / part-ways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Comparison vs build-it-yourself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DIY content team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 platform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Time to first lesson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4–8 weeks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24–48 hours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Salaries + tooling, $200k+/year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Subscription, $5–15/seat/mo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Ongoing forever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Included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Quality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Per-author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Validators + reviewer + SME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Topics on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Backlog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Same-day draft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Comparison vs traditional 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Cornerstone / Litmos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 platform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Catalog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Their courses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Your topics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Time to publish a new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Weeks (find a vendor course)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Hours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AI-drafted custom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Yes — with SME gate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Per-seat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$10–25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$5–15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Days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we'd ask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To run a successful pilot, we need:</a:t>
            </a:r>
          </a:p>
          <a:p>
            <a:pPr/>
            <a:r>
              <a:rPr sz="1600"/>
              <a:t>One named SME with ~10 minutes/day for content review using our 5-probe intake — no narrative writing required. The intake structures the SME's expertise into novice-error / one-principle / worked-example pair / boundary case / nearest confusable. Each concept ships with a worked example AND a faded variant by default.</a:t>
            </a:r>
          </a:p>
          <a:p>
            <a:pPr/>
            <a:r>
              <a:rPr sz="1600"/>
              <a:t>Knowledge files — your existing PDFs, slides, runbooks, policy docs. We'll ingest up to 25 MB during the pilot.</a:t>
            </a:r>
          </a:p>
          <a:p>
            <a:pPr/>
            <a:r>
              <a:rPr sz="1600"/>
              <a:t>A point person to coordinate cohort communications.</a:t>
            </a:r>
          </a:p>
          <a:p>
            <a:pPr>
              <a:spcAft>
                <a:spcPts val="600"/>
              </a:spcAft>
            </a:pPr>
            <a:r>
              <a:rPr sz="1600"/>
              <a:t>A weekly 30-minute readout during the pilot.</a:t>
            </a:r>
          </a:p>
          <a:p>
            <a:pPr algn="l">
              <a:spcAft>
                <a:spcPts val="800"/>
              </a:spcAft>
            </a:pPr>
            <a:r>
              <a:rPr sz="1800"/>
              <a:t>That's it. No code changes on your side. SSO is optional during the pilot.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Frequently asked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"What if your AI gets something wrong?" Two safety nets: deterministic validators catch documented failure modes pre-review, and your SME is the publish gate. Bad content cannot reach your staff without your SME approving it.</a:t>
            </a:r>
          </a:p>
          <a:p>
            <a:pPr algn="l">
              <a:spcAft>
                <a:spcPts val="800"/>
              </a:spcAft>
            </a:pPr>
            <a:r>
              <a:rPr sz="1800"/>
              <a:t>"What happens to our content if we leave?" Self-serve export of all your content and learner progress. Tenant deletion within 30 days of request.</a:t>
            </a:r>
          </a:p>
          <a:p>
            <a:pPr algn="l">
              <a:spcAft>
                <a:spcPts val="800"/>
              </a:spcAft>
            </a:pPr>
            <a:r>
              <a:rPr sz="1800"/>
              <a:t>"Are our knowledge files used to train any AI models?" No. We use Anthropic's API in zero-data-retention mode for enterprise tenants; your files are used only to draft content for your tenant.</a:t>
            </a:r>
          </a:p>
          <a:p>
            <a:pPr algn="l">
              <a:spcAft>
                <a:spcPts val="800"/>
              </a:spcAft>
            </a:pPr>
            <a:r>
              <a:rPr sz="1800"/>
              <a:t>"Can we run this air-gapped / on-prem?" Not in v1. On-prem is on the 18-month roadmap if 3+ enterprise prospects request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30-minute scoping call to determine:</a:t>
            </a:r>
          </a:p>
          <a:p>
            <a:pPr/>
            <a:r>
              <a:rPr sz="1600"/>
              <a:t>Which 1–3 catalogs would matter most to your team?</a:t>
            </a:r>
          </a:p>
          <a:p>
            <a:pPr/>
            <a:r>
              <a:rPr sz="1600"/>
              <a:t>Who would be your SME?</a:t>
            </a:r>
          </a:p>
          <a:p>
            <a:pPr>
              <a:spcAft>
                <a:spcPts val="600"/>
              </a:spcAft>
            </a:pPr>
            <a:r>
              <a:rPr sz="1600"/>
              <a:t>What does pilot success look like to you?</a:t>
            </a:r>
          </a:p>
          <a:p>
            <a:pPr algn="l">
              <a:spcAft>
                <a:spcPts val="800"/>
              </a:spcAft>
            </a:pPr>
            <a:r>
              <a:rPr sz="1800"/>
              <a:t>If we agree it's worth a pilot, we send an LOI within 48 hours.</a:t>
            </a:r>
          </a:p>
          <a:p>
            <a:pPr algn="l">
              <a:spcAft>
                <a:spcPts val="800"/>
              </a:spcAft>
            </a:pPr>
            <a:r>
              <a:rPr sz="1800"/>
              <a:t>Contact: [operator email] • [scheduling link]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Your topics, drafted by AI, reviewed by your expert, learned by your team — at one-tenth the cost of doing it yourself.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