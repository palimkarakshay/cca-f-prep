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Content Pack Management Platform —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i="1">
                <a:solidFill>
                  <a:srgbClr val="4A4A6E"/>
                </a:solidFill>
              </a:rPr>
              <a:t>Slide-style summary of the build plan. Designed for a 10-minute walk-through with a non-technical stakeholder. Slide breaks are marked by ---.
Companion docs: ./content-pack-management-plan.md (detailed plan), ./deck-investor.md (investor/advisor angle), ./deck-b2b-prospect.md (B2B sales angle), ./deck-collaborator.md (technical collaborator angle).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Content Pack Management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 focused learning platform for individuals and companies. Built in two phases — de-risk the AI cost before paying for AI.</a:t>
            </a:r>
          </a:p>
          <a:p>
            <a:pPr algn="l">
              <a:spcAft>
                <a:spcPts val="800"/>
              </a:spcAft>
            </a:pPr>
            <a:r>
              <a:rPr sz="1800"/>
              <a:t>Branch: claude/content-pack-management-plan-gO7ys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AI-generated study content is everywhere — and most of it is bad.</a:t>
            </a:r>
          </a:p>
          <a:p>
            <a:pPr/>
            <a:r>
              <a:rPr sz="1600"/>
              <a:t>Common failure modes are predictable: biased answer keys, fabricated facts, weak distractors, no source justification.</a:t>
            </a:r>
          </a:p>
          <a:p>
            <a:pPr/>
            <a:r>
              <a:rPr sz="1600"/>
              <a:t>Buyers (especially enterprises) won't trust AI lessons that no human reviewed.</a:t>
            </a:r>
          </a:p>
          <a:p>
            <a:pPr>
              <a:spcAft>
                <a:spcPts val="600"/>
              </a:spcAft>
            </a:pPr>
            <a:r>
              <a:rPr sz="1600"/>
              <a:t>Building this with the AI cost turned on from day 1 is how startups burn $50k before learning whether anyone wants the product.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product, one paragraph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 learning platform with two modes:</a:t>
            </a:r>
          </a:p>
          <a:p>
            <a:pPr/>
            <a:r>
              <a:rPr sz="1600"/>
              <a:t>B2C: anyone signs up, picks a catalog, learns at their own pace.</a:t>
            </a:r>
          </a:p>
          <a:p>
            <a:pPr>
              <a:spcAft>
                <a:spcPts val="600"/>
              </a:spcAft>
            </a:pPr>
            <a:r>
              <a:rPr sz="1600"/>
              <a:t>B2B: companies buy access for staff; their internal expert reviews material before it goes live.</a:t>
            </a:r>
          </a:p>
          <a:p>
            <a:pPr algn="l">
              <a:spcAft>
                <a:spcPts val="800"/>
              </a:spcAft>
            </a:pPr>
            <a:r>
              <a:rPr sz="1800"/>
              <a:t>AI drafts the content; deterministic validators catch known failure modes; a stronger AI reviewer audits the drafter; a human always approves before publish.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Two markets, one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B2C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B2B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Self-directed learners (cert candidates, hobbyists)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SMB and mid-market HR / L&amp;D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Pricing intuition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$9/mo Pro (free tier with 5 catalogs)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$5–15 per learner per month, $100/mo platform minimum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Why they 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Quizzes that aren't trash; ability to request topics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Curated, expert-reviewed material; SSO; usage reporting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two-phase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Phase 1 — Proof-of-concept. Cost: ~$0/month.</a:t>
            </a:r>
          </a:p>
          <a:p>
            <a:pPr/>
            <a:r>
              <a:rPr sz="1600"/>
              <a:t>AI authoring done by the operator inside Claude Code locally (paid by existing Max 20x subscription).</a:t>
            </a:r>
          </a:p>
          <a:p>
            <a:pPr/>
            <a:r>
              <a:rPr sz="1600"/>
              <a:t>Web platform stores, versions, and serves the content the operator authored offline.</a:t>
            </a:r>
          </a:p>
          <a:p>
            <a:pPr>
              <a:spcAft>
                <a:spcPts val="600"/>
              </a:spcAft>
            </a:pPr>
            <a:r>
              <a:rPr sz="1600"/>
              <a:t>Goal: validate willingness-to-pay before any AI cost is incurred.</a:t>
            </a:r>
          </a:p>
          <a:p>
            <a:pPr algn="l">
              <a:spcAft>
                <a:spcPts val="800"/>
              </a:spcAft>
            </a:pPr>
            <a:r>
              <a:rPr sz="1800"/>
              <a:t>Phase 2 — Commercial. Cost: ~$450–1000/month at planned scale.</a:t>
            </a:r>
          </a:p>
          <a:p>
            <a:pPr/>
            <a:r>
              <a:rPr sz="1600"/>
              <a:t>Turn on in-app AI generation, billing, B2B controls.</a:t>
            </a:r>
          </a:p>
          <a:p>
            <a:pPr>
              <a:spcAft>
                <a:spcPts val="600"/>
              </a:spcAft>
            </a:pPr>
            <a:r>
              <a:rPr sz="1600"/>
              <a:t>Everything from Phase 1 carries over without rewrites.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Phase 1 success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Paying intent — measured directly.</a:t>
            </a:r>
          </a:p>
          <a:p>
            <a:pPr>
              <a:spcAft>
                <a:spcPts val="600"/>
              </a:spcAft>
            </a:pPr>
            <a:r>
              <a:rPr sz="1600"/>
              <a:t>B2B: "Request a pilot" form on marketing site → operator follow-up → signed LOI.</a:t>
            </a:r>
          </a:p>
          <a:p>
            <a:pPr algn="l">
              <a:spcAft>
                <a:spcPts val="800"/>
              </a:spcAft>
            </a:pPr>
            <a:r>
              <a:rPr sz="1800"/>
              <a:t>Target before Phase 2 spend: 3 signed LOIs.</a:t>
            </a:r>
          </a:p>
          <a:p>
            <a:pPr>
              <a:spcAft>
                <a:spcPts val="600"/>
              </a:spcAft>
            </a:pPr>
            <a:r>
              <a:rPr sz="1600"/>
              <a:t>B2C: "Get early access" waitlist + Stripe Payment Link for refundable $9 pre-orders.</a:t>
            </a:r>
          </a:p>
          <a:p>
            <a:pPr algn="l">
              <a:spcAft>
                <a:spcPts val="800"/>
              </a:spcAft>
            </a:pPr>
            <a:r>
              <a:rPr sz="1800"/>
              <a:t>Target: 50 waitlisted, 10 pre-orders.</a:t>
            </a:r>
          </a:p>
          <a:p>
            <a:pPr algn="l">
              <a:spcAft>
                <a:spcPts val="800"/>
              </a:spcAft>
            </a:pPr>
            <a:r>
              <a:rPr sz="1800"/>
              <a:t>If Phase 1 doesn't hit these, we don't spend on Phase 2. Hard gate.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Phase 1 cost — essentially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Vendor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Vercel Hobby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Neon Postgres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File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Cloudflare R2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Clerk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Resend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PostHog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Sentry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AI authoring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Claude Max 20x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already paid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registrar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~$1/mo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Total incremental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~$1/mo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Phase 2 cost — at 100 tenants, 10k MAU, 50k generations/mo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AI is the dominant line. Hard cap = per-tenant monthly token budget with UI burn meter.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Line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Hosting (Vercel Pro)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$20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Database (Neon Scale)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$19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Auth (Clerk Pro)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$25+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Job queue (Inngest Pro)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$20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AI drafter (Sonnet)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~$200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AI reviewer (Opus)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~$100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Embeddings, email, errors,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~$70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~$450–1000/mo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Pricing math at modest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1000 paying B2C learners × $9 = $9k MRR</a:t>
            </a:r>
          </a:p>
          <a:p>
            <a:pPr/>
            <a:r>
              <a:rPr sz="1600"/>
              <a:t>50 B2B tenants × 50 seats × $10 = $25k MRR</a:t>
            </a:r>
          </a:p>
          <a:p>
            <a:pPr/>
            <a:r>
              <a:rPr sz="1600"/>
              <a:t>Combined ≈ $34k MRR vs ~$600/mo infra</a:t>
            </a:r>
          </a:p>
          <a:p>
            <a:pPr>
              <a:spcAft>
                <a:spcPts val="600"/>
              </a:spcAft>
            </a:pPr>
            <a:r>
              <a:rPr sz="1600"/>
              <a:t>⇒ gross margin &gt; 95% at this scale.</a:t>
            </a:r>
          </a:p>
          <a:p>
            <a:pPr algn="l">
              <a:spcAft>
                <a:spcPts val="800"/>
              </a:spcAft>
            </a:pPr>
            <a:r>
              <a:rPr sz="1800"/>
              <a:t>The AI cost line scales with generations, not learners. As long as we don't regenerate per learner, margins stay healthy.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learners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Sign up via email-link.</a:t>
            </a:r>
          </a:p>
          <a:p>
            <a:pPr/>
            <a:r>
              <a:rPr sz="1600"/>
              <a:t>Browse catalogs; tap a concept.</a:t>
            </a:r>
          </a:p>
          <a:p>
            <a:pPr/>
            <a:r>
              <a:rPr sz="1600"/>
              <a:t>Read short lesson; take 3-question quiz.</a:t>
            </a:r>
          </a:p>
          <a:p>
            <a:pPr/>
            <a:r>
              <a:rPr sz="1600"/>
              <a:t>Progress synced across devices.</a:t>
            </a:r>
          </a:p>
          <a:p>
            <a:pPr/>
            <a:r>
              <a:rPr sz="1600"/>
              <a:t>"Suggest a topic" button → feedback loop.</a:t>
            </a:r>
          </a:p>
          <a:p>
            <a:pPr>
              <a:spcAft>
                <a:spcPts val="600"/>
              </a:spcAft>
            </a:pPr>
            <a:r>
              <a:rPr sz="1600"/>
              <a:t>"Report this content" button → quality signal.</a:t>
            </a:r>
          </a:p>
          <a:p>
            <a:pPr algn="l">
              <a:spcAft>
                <a:spcPts val="800"/>
              </a:spcAft>
            </a:pPr>
            <a:r>
              <a:rPr sz="1800"/>
              <a:t>Same UX in Phase 1 and Phase 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Why learners come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Three mechanisms, each grounded in peer-reviewed cognitive-psychology research:</a:t>
            </a:r>
          </a:p>
          <a:p>
            <a:pPr>
              <a:spcAft>
                <a:spcPts val="600"/>
              </a:spcAft>
            </a:pPr>
            <a:r>
              <a:rPr sz="1600"/>
              <a:t>Spaced retrieval keeps yesterday's lesson alive. Expanding-interval</a:t>
            </a:r>
          </a:p>
          <a:p>
            <a:pPr algn="l">
              <a:spcAft>
                <a:spcPts val="800"/>
              </a:spcAft>
            </a:pPr>
            <a:r>
              <a:rPr sz="1800"/>
              <a:t>practice (1/3/7/14/30d) produces ~2× retention vs massed practice (spacing effect — Cepeda et al. 2008, Psych Sci; 254-study meta in Cepeda 2006). Without review, retention plateaus near 25% by day 6 (Murre &amp; Dros 2015, replicating Ebbinghaus 1885).</a:t>
            </a:r>
          </a:p>
          <a:p>
            <a:pPr>
              <a:spcAft>
                <a:spcPts val="600"/>
              </a:spcAft>
            </a:pPr>
            <a:r>
              <a:rPr sz="1600"/>
              <a:t>Streaks + variable rewards convert intent into habit. Hook Model</a:t>
            </a:r>
          </a:p>
          <a:p>
            <a:pPr algn="l">
              <a:spcAft>
                <a:spcPts val="800"/>
              </a:spcAft>
            </a:pPr>
            <a:r>
              <a:rPr sz="1800"/>
              <a:t>(trigger → action → variable reward → investment) plus loss-aversion via streak; Duolingo precedent — CURR +21%, DAU 4.5× over 4 years (Eyal 2014; Mazal 2022).</a:t>
            </a:r>
          </a:p>
          <a:p>
            <a:pPr>
              <a:spcAft>
                <a:spcPts val="600"/>
              </a:spcAft>
            </a:pPr>
            <a:r>
              <a:rPr sz="1600"/>
              <a:t>**Cohort surface (peer + accountability) drives 75–96% completion vs</a:t>
            </a:r>
          </a:p>
          <a:p>
            <a:pPr algn="l">
              <a:spcAft>
                <a:spcPts val="800"/>
              </a:spcAft>
            </a:pPr>
            <a:r>
              <a:rPr sz="1800"/>
              <a:t>3–10% MOOC.** Maven W1→W2 retention 96% vs MOOC 16%; altMBA 96% completion (Maven; Reich &amp; Ruipérez-Valiente 2019, Science).</a:t>
            </a:r>
          </a:p>
          <a:p>
            <a:pPr algn="l">
              <a:spcAft>
                <a:spcPts val="800"/>
              </a:spcAft>
            </a:pPr>
            <a:r>
              <a:rPr sz="1800"/>
              <a:t>These aren't engagement gimmicks. Each is a measured intervention with an effect size we can hold ourselves 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Why SMEs ship better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Three scaffolds, each fixing a known SME failure mode:</a:t>
            </a:r>
          </a:p>
          <a:p>
            <a:pPr>
              <a:spcAft>
                <a:spcPts val="600"/>
              </a:spcAft>
            </a:pPr>
            <a:r>
              <a:rPr sz="1600"/>
              <a:t>**CTA-style intake captures the 70% of decisions experts forget to</a:t>
            </a:r>
          </a:p>
          <a:p>
            <a:pPr algn="l">
              <a:spcAft>
                <a:spcPts val="800"/>
              </a:spcAft>
            </a:pPr>
            <a:r>
              <a:rPr sz="1800"/>
              <a:t>mention.** Cognitive Task Analysis 5-probe intake (novice-error / one-principle / worked-example pair / boundary case / nearest confusable) (Clark, Feldon, van Merriënboer, Yates &amp; Early; Lee 2004: +46% post-training learning gain, Cohen's d ≈ 1.72).</a:t>
            </a:r>
          </a:p>
          <a:p>
            <a:pPr>
              <a:spcAft>
                <a:spcPts val="600"/>
              </a:spcAft>
            </a:pPr>
            <a:r>
              <a:rPr sz="1600"/>
              <a:t>**Backward-design template forces "what's the test?" before "what's the</a:t>
            </a:r>
          </a:p>
          <a:p>
            <a:pPr algn="l">
              <a:spcAft>
                <a:spcPts val="800"/>
              </a:spcAft>
            </a:pPr>
            <a:r>
              <a:rPr sz="1800"/>
              <a:t>lesson?"** (Wiggins &amp; McTighe 1998 — Understanding by Design).</a:t>
            </a:r>
          </a:p>
          <a:p>
            <a:pPr>
              <a:spcAft>
                <a:spcPts val="600"/>
              </a:spcAft>
            </a:pPr>
            <a:r>
              <a:rPr sz="1600"/>
              <a:t>Critic flags expert blind spots before publish. SMEs systematically</a:t>
            </a:r>
          </a:p>
          <a:p>
            <a:pPr algn="l">
              <a:spcAft>
                <a:spcPts val="800"/>
              </a:spcAft>
            </a:pPr>
            <a:r>
              <a:rPr sz="1800"/>
              <a:t>over-estimate novice prerequisites (Nathan &amp; Petrosino 2003 — expert blind spot; Hinds 1999 — curse of expertise).</a:t>
            </a:r>
          </a:p>
          <a:p>
            <a:pPr algn="l">
              <a:spcAft>
                <a:spcPts val="800"/>
              </a:spcAft>
            </a:pPr>
            <a:r>
              <a:rPr sz="1800"/>
              <a:t>The premise: SMEs aren't bad teachers. They have specific cognitive artefacts that don't transfer without specific elicitation tooling.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Problems we mitigate, and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The chain reads left-to-right: identified problem → specific feature in the platform → research source. Same matrix elaborated in content-pack-management-plan.md §D0 and mirrored in every deck.</a:t>
            </a:r>
          </a:p>
          <a:p>
            <a:pPr algn="l">
              <a:spcAft>
                <a:spcPts val="800"/>
              </a:spcAft>
            </a:pPr>
            <a:r>
              <a:rPr sz="1800"/>
              <a:t>Learner retention + absorption:</a:t>
            </a:r>
          </a:p>
          <a:p>
            <a:pPr algn="l">
              <a:spcAft>
                <a:spcPts val="800"/>
              </a:spcAft>
            </a:pPr>
            <a:r>
              <a:rPr sz="1800"/>
              <a:t>SME knowledge-sharing:</a:t>
            </a:r>
          </a:p>
          <a:p>
            <a:pPr algn="l">
              <a:spcAft>
                <a:spcPts val="800"/>
              </a:spcAft>
            </a:pPr>
            <a:r>
              <a:rPr sz="1800"/>
              <a:t>Every mitigation is a shipped Phase-2 surface — not exhortation, not a "best-practice guideline." Outcome targets per Kirkpatrick L1–L4 in content-pack-management-plan.md §D4.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65176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Platform feature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~25% knowledge retained at day 6 without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Spaced-review banner on the dashboard with one-tap "Start review"; expanding interval 1/3/7/14/30d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Cepeda 2008; Murre &amp; Dros 2015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Streaks computed but no return-trigger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Streak counter + web-push at user's modal study-time; streak-freeze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Eyal 2014; Mazal 2022 (Duolingo CURR +21%)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Re-reading produces fluency illusion, not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Mid-lesson retrieval gate (recall before reveal); write-the-principle 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Roediger &amp; Karpicke 2006; Slamecka &amp; Graf 1978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No metacognitive calibration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JOL slider before reveal; calibration-Δ trend 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Dunlosky &amp; Bjork; Kruger &amp; Dunning 1999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Blocked practice transfers ~30% worse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Recommender enforces sub-area rotation per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Rohrer &amp; Taylor 2007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No social/cohort surface; SDT relatedness unmet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Per-cohort routes + peer-comparison + group leaderboard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Ryan &amp; Deci; Maven 96% vs MOOC 16%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4747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Platform feature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SMEs omit ~70% of decisions when self-narrating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5-probe DrafterIntake schema with required JSON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Clark / Feldon; Lee 2004 (+46% gain, d ≈ 1.72)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"Telling what I know" instead of designing toward an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Backward-design "write the test first" mode; lesson editor locked until assessment authored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Wiggins &amp; McTighe 1998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Curse of expertise — under-explained bridging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"What would a novice get wrong?" probe required at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Nathan &amp; Petrosino 2003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Tacit knowledge unrecoverable from text-from-blank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Voice-first / camera-first authoring with auto-draft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Polanyi 1966; CTA-for-skilled-trades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Critic feedback is destination, not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Per-SME blind-spot dashboard aggregating feedback over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Ericsson 1993 (deliberate-practice feedback channel)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Eight segments, one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The mechanism set is the same regardless of segment. The surface varies.</a:t>
            </a:r>
          </a:p>
          <a:p>
            <a:pPr>
              <a:spcAft>
                <a:spcPts val="600"/>
              </a:spcAft>
            </a:pPr>
            <a:r>
              <a:rPr sz="1600"/>
              <a:t>80% of the global workforce is deskless (~2.7B workers — TalentCards).</a:t>
            </a:r>
          </a:p>
          <a:p>
            <a:pPr algn="l">
              <a:spcAft>
                <a:spcPts val="800"/>
              </a:spcAft>
            </a:pPr>
            <a:r>
              <a:rPr sz="1800"/>
              <a:t>The same nano-format unlocks manufacturing, retail, healthcare-frontline, field-services in one shot.</a:t>
            </a:r>
          </a:p>
          <a:p>
            <a:pPr>
              <a:spcAft>
                <a:spcPts val="600"/>
              </a:spcAft>
            </a:pPr>
            <a:r>
              <a:rPr sz="1600"/>
              <a:t>**Compliance verticals (finance, healthcare, government) need</a:t>
            </a:r>
          </a:p>
          <a:p>
            <a:pPr algn="l">
              <a:spcAft>
                <a:spcPts val="800"/>
              </a:spcAft>
            </a:pPr>
            <a:r>
              <a:rPr sz="1800"/>
              <a:t>audit-trail + version-pin + role-based publish** — same critic engine, different governance gates. &lt;70% completion ⇒ 3.5× violation rate (KPI Depot 2026).</a:t>
            </a:r>
          </a:p>
          <a:p>
            <a:pPr>
              <a:spcAft>
                <a:spcPts val="600"/>
              </a:spcAft>
            </a:pPr>
            <a:r>
              <a:rPr sz="1600"/>
              <a:t>High-power-distance markets (East Asia, LATAM, MENA, India) **need</a:t>
            </a:r>
          </a:p>
          <a:p>
            <a:pPr algn="l">
              <a:spcAft>
                <a:spcPts val="800"/>
              </a:spcAft>
            </a:pPr>
            <a:r>
              <a:rPr sz="1800"/>
              <a:t>leader-endorsed pathways** — same SME scaffold, different framing.</a:t>
            </a:r>
          </a:p>
          <a:p>
            <a:pPr>
              <a:spcAft>
                <a:spcPts val="600"/>
              </a:spcAft>
            </a:pPr>
            <a:r>
              <a:rPr sz="1600"/>
              <a:t>Single-SME-bottleneck SMBs need succession-of-knowledge tooling —</a:t>
            </a:r>
          </a:p>
          <a:p>
            <a:pPr algn="l">
              <a:spcAft>
                <a:spcPts val="800"/>
              </a:spcAft>
            </a:pPr>
            <a:r>
              <a:rPr sz="1800"/>
              <a:t>same CTA pipeline, different urgency (bus-factor 1).</a:t>
            </a:r>
          </a:p>
          <a:p>
            <a:pPr algn="l">
              <a:spcAft>
                <a:spcPts val="800"/>
              </a:spcAft>
            </a:pPr>
            <a:r>
              <a:rPr sz="1800"/>
              <a:t>One engine, calibrated per segment, not eight rebuilds.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the operator does in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Open Claude Code in the project repo (paid by Max).</a:t>
            </a:r>
          </a:p>
          <a:p>
            <a:pPr/>
            <a:r>
              <a:rPr sz="1600"/>
              <a:t>Paste a knowledge file (PDF / markdown / slides as text).</a:t>
            </a:r>
          </a:p>
          <a:p>
            <a:pPr/>
            <a:r>
              <a:rPr sz="1600"/>
              <a:t>Run /draft-topic slash command → Claude drafts JSON.</a:t>
            </a:r>
          </a:p>
          <a:p>
            <a:pPr/>
            <a:r>
              <a:rPr sz="1600"/>
              <a:t>Local validators run automatically (catch known failure modes).</a:t>
            </a:r>
          </a:p>
          <a:p>
            <a:pPr>
              <a:spcAft>
                <a:spcPts val="600"/>
              </a:spcAft>
            </a:pPr>
            <a:r>
              <a:rPr sz="1600"/>
              <a:t>Open admin tool → paste JSON → publish.</a:t>
            </a:r>
          </a:p>
          <a:p>
            <a:pPr algn="l">
              <a:spcAft>
                <a:spcPts val="800"/>
              </a:spcAft>
            </a:pPr>
            <a:r>
              <a:rPr sz="1800"/>
              <a:t>~10 minutes per topic.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changes in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Additive on Phase 1, behind feature flags, in this order:</a:t>
            </a:r>
          </a:p>
          <a:p>
            <a:pPr/>
            <a:r>
              <a:rPr sz="1600"/>
              <a:t>Vercel Pro (TOS compliance for paid customers).</a:t>
            </a:r>
          </a:p>
          <a:p>
            <a:pPr/>
            <a:r>
              <a:rPr sz="1600"/>
              <a:t>In-app AI generation pipeline (Inngest + Anthropic API).</a:t>
            </a:r>
          </a:p>
          <a:p>
            <a:pPr/>
            <a:r>
              <a:rPr sz="1600"/>
              <a:t>Opus critiques Sonnet drafts; answer-justification audit.</a:t>
            </a:r>
          </a:p>
          <a:p>
            <a:pPr/>
            <a:r>
              <a:rPr sz="1600"/>
              <a:t>Confidence routing + sampled spot-checks.</a:t>
            </a:r>
          </a:p>
          <a:p>
            <a:pPr/>
            <a:r>
              <a:rPr sz="1600"/>
              <a:t>B2B controls: SME role, two-eye gate, per-tenant catalogs.</a:t>
            </a:r>
          </a:p>
          <a:p>
            <a:pPr/>
            <a:r>
              <a:rPr sz="1600"/>
              <a:t>Stripe billing.</a:t>
            </a:r>
          </a:p>
          <a:p>
            <a:pPr/>
            <a:r>
              <a:rPr sz="1600"/>
              <a:t>Embedding-based suggestion dedup.</a:t>
            </a:r>
          </a:p>
          <a:p>
            <a:pPr>
              <a:spcAft>
                <a:spcPts val="600"/>
              </a:spcAft>
            </a:pPr>
            <a:r>
              <a:rPr sz="1600"/>
              <a:t>Post-publish quality signals → "pause-not-pull".</a:t>
            </a:r>
          </a:p>
          <a:p>
            <a:pPr algn="l">
              <a:spcAft>
                <a:spcPts val="800"/>
              </a:spcAft>
            </a:pPr>
            <a:r>
              <a:rPr sz="1800"/>
              <a:t>Nothing from Phase 1 is thrown away.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Top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AI cost spirals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Per-tenant budget cap; UI burn meter; alerts at 80%.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AI hallucinations reach learners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Validators + Opus critic + answer-justification audit + post-publish signals.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Tenant data leak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Postgres RLS + Neon HTTP driver + integration test.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Enterprises won't accept AI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B2B default = human-required; auto-publish is opt-in.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No revenue path 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Phase 1's only job is to prove paying intent before Phase 2 spend.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Decision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flips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First paid customer / signed LOI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Vercel Hobby → Vercel Pro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Operator authoring backlog &gt; 1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Turn on Phase 2 in-app generation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First B2B contract requires per-company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Activate SME role + two-eye gate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5+ enterprise deals blocked on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Pursue formal SOC2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First quality incident reaching learner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Switch reviewer to cross-vendor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Phase 1 timeline — ~18 working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Monorepo + DB + auth + storage wired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Astro marketing site + LOI / waitlist / pre-order capture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Learner app: catalog, lesson, quiz, progress, search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 app: import, lint, suggestions, leads, knowledge files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Operator authoring loop (Claude Code skill + validators)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Verification: end-to-end + RLS + Lighthouse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we need to start 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Sign-off:</a:t>
            </a:r>
          </a:p>
          <a:p>
            <a:pPr/>
            <a:r>
              <a:rPr sz="1600"/>
              <a:t>The two-phase plan is the right shape.</a:t>
            </a:r>
          </a:p>
          <a:p>
            <a:pPr>
              <a:spcAft>
                <a:spcPts val="600"/>
              </a:spcAft>
            </a:pPr>
            <a:r>
              <a:rPr sz="1600"/>
              <a:t>Phase 1 success metric = signed LOIs + pre-orders is the right gate.</a:t>
            </a:r>
          </a:p>
          <a:p>
            <a:pPr algn="l">
              <a:spcAft>
                <a:spcPts val="800"/>
              </a:spcAft>
            </a:pPr>
            <a:r>
              <a:rPr sz="1800"/>
              <a:t>Resources:</a:t>
            </a:r>
          </a:p>
          <a:p>
            <a:pPr/>
            <a:r>
              <a:rPr sz="1600"/>
              <a:t>~18 working days of focused build time.</a:t>
            </a:r>
          </a:p>
          <a:p>
            <a:pPr/>
            <a:r>
              <a:rPr sz="1600"/>
              <a:t>One domain (~$12/yr).</a:t>
            </a:r>
          </a:p>
          <a:p>
            <a:pPr/>
            <a:r>
              <a:rPr sz="1600"/>
              <a:t>Clerk + Neon + Vercel + R2 + PostHog + Sentry + Resend free-tier accounts.</a:t>
            </a:r>
          </a:p>
          <a:p>
            <a:pPr>
              <a:spcAft>
                <a:spcPts val="600"/>
              </a:spcAft>
            </a:pPr>
            <a:r>
              <a:rPr sz="1600"/>
              <a:t>Stripe account (for the pre-order Payment Link).</a:t>
            </a:r>
          </a:p>
          <a:p>
            <a:pPr algn="l">
              <a:spcAft>
                <a:spcPts val="800"/>
              </a:spcAft>
            </a:pPr>
            <a:r>
              <a:rPr sz="1800"/>
              <a:t>That's it. Phase 2 spend is gated on Phase 1 evidence.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i="1">
                <a:solidFill>
                  <a:srgbClr val="4A4A6E"/>
                </a:solidFill>
              </a:rPr>
              <a:t>Build a polished delivery platform first, prove people will pay for it using $0/month of infra, and only then turn on the expensive AI generation — with the safety nets (validators, reviewer model, human-in-the-loop) wired in from day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