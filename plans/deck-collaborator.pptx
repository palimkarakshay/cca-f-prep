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</a:rPr>
              <a:t>Content Pack Management Platform — Technical Collaborator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i="1">
                <a:solidFill>
                  <a:srgbClr val="4A4A6E"/>
                </a:solidFill>
              </a:rPr>
              <a:t>Slide-style deck for a senior engineer evaluating joining as co-founder, first hire, or technical advisor. Engineering-language; assumes you can read TypeScript and SQL. Slide breaks are marked by ---.
Companion docs: ./content-pack-management-plan.md, ./deck-overview.md, ./deck-investor.md, ./deck-b2b-prospect.md.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Content Pack Management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B2C/B2B learning platform with a deliberate quality loop: AI drafter → deterministic validators → stronger-model critic → human gate.</a:t>
            </a:r>
          </a:p>
          <a:p>
            <a:pPr algn="l">
              <a:spcAft>
                <a:spcPts val="800"/>
              </a:spcAft>
            </a:pPr>
            <a:r>
              <a:rPr sz="1800"/>
              <a:t>For: a senior engineer or technical co-founder. ~10-minute read. Assumes the detailed plan is the source of truth for everything below.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Product in one paragraph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A learning platform where AI drafts lessons + quizzes from operator-supplied knowledge files; a library of deterministic validators catches a documented set of AI failure modes; a stronger reviewer model audits the drafter; and a human always approves before publish. Two markets (B2C self-service + B2B with SME review) share one platform. The killer feature is the quality loop, not the lessons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Why this is technically interesting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Three things that aren't templated SaaS:</a:t>
            </a:r>
          </a:p>
          <a:p>
            <a:pPr/>
            <a:r>
              <a:rPr sz="1600"/>
              <a:t>The validator library is the moat — 23 documented AI-content failure modes (F1–F8 cognitive failure-mode taxonomy) catalogued from real misses. Vendor-independent. Reused across local lint, server-side import, and the commercial critic stage.</a:t>
            </a:r>
          </a:p>
          <a:p>
            <a:pPr/>
            <a:r>
              <a:rPr sz="1600"/>
              <a:t>HITL pipeline that doesn't burn out the reviewer — the hard part isn't catching bad AI output; it's surfacing the right thing to the human at the right time, with pre-computed findings and side-by-side diffs. Most teams get this wrong.</a:t>
            </a:r>
          </a:p>
          <a:p>
            <a:pPr>
              <a:spcAft>
                <a:spcPts val="600"/>
              </a:spcAft>
            </a:pPr>
            <a:r>
              <a:rPr sz="1600"/>
              <a:t>Multi-tenant from day 1, on serverless Postgres — RLS at the connection layer, with the Neon HTTP driver to avoid pool-reuse leaks. Verified by an integration test that asserts cross-tenant queries return 0 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hard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Why it's hard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Our angle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Catching AI failure modes deterministically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LLM output looks plausible even when it's wrong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Pre-existing F1–F8 taxonomy + Zod + bias detection + spoiler detection + cross-ref checks; runs in ~50ms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HITL UX that scales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SME burns out at &gt;15 min/day per tenant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Pre-computed findings, side-by-side diffs, three-button decision (approve / approve+edit / reject); target ≤10 min/day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RLS on serverless 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Connection pool reuse leaks tenant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Neon HTTP driver (fresh connection per request); withTenant(...) helper; integration test enforces it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AI cost discipline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One bad config = $10k/day burn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Per-tenant monthly budget cap, server-enforced; UI burn meter; alerts at 80% and 100%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Calibration loop without prompt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Naive few-shot accumulation blows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Cap at 8 most-recent rejections; older ones summarised into anti-pattern rules in the system prompt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latin typeface="Consolas"/>
              </a:rPr>
              <a:t>┌──────────────────────────────────────────────────────────────────────┐
│  Astro marketing site (separate Vercel project, www subdomain)       │
│   - LOI form (B2B), waitlist (B2C), Stripe pre-order Payment Link    │
└──────────────────────────────────────────────────────────────────────┘
                                   │
                                   ▼ POST /api/leads
┌──────────────────────────────────────────────────────────────────────┐
│  Next.js app on Vercel (app subdomain)                               │
│   Route groups: (public) / (learner) / (admin)                       │
│   Auth: Clerk; tenant via Clerk Organizations                        │
└──────────────────────────────────────────────────────────────────────┘
              │                     │                     │
              ▼                     ▼                     ▼
       ┌────────────┐       ┌──────────────┐      ┌──────────────────┐
       │ Postgres   │       │ Cloudflare R2│      │ PostHog / Sentry │
       │ (Neon)     │       │  pack JSON   │      │ Resend (email)   │
       │  RLS       │       │  knowledge   │      │                  │
       └────────────┘       └──────────────┘      └──────────────────┘</a:t>
            </a:r>
          </a:p>
          <a:p>
            <a:pPr algn="l">
              <a:spcAft>
                <a:spcPts val="800"/>
              </a:spcAft>
            </a:pPr>
            <a:r>
              <a:rPr sz="1800"/>
              <a:t>Phase 2 adds an Inngest pipeline (generate → validate → critique → route → publish) and Stripe.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What's built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In the existing repo at /home/user/cca-f-prep:</a:t>
            </a:r>
          </a:p>
          <a:p>
            <a:pPr/>
            <a:r>
              <a:rPr sz="1600"/>
              <a:t>web/ — Next.js App Router skeleton, Tailwind v4, shadcn/ui, Playwright e2e, Vitest unit tests.</a:t>
            </a:r>
          </a:p>
          <a:p>
            <a:pPr/>
            <a:r>
              <a:rPr sz="1600"/>
              <a:t>web/content-packs/ — three live content packs including the actual CCA-F study material we drink-our-own-champagne with.</a:t>
            </a:r>
          </a:p>
          <a:p>
            <a:pPr/>
            <a:r>
              <a:rPr sz="1600"/>
              <a:t>web/src/content/curriculum-types.ts — schema we extend.</a:t>
            </a:r>
          </a:p>
          <a:p>
            <a:pPr/>
            <a:r>
              <a:rPr sz="1600"/>
              <a:t>06-failure-analysis/error-log.md — the F1–F8 taxonomy and 23 documented failure modes.</a:t>
            </a:r>
          </a:p>
          <a:p>
            <a:pPr/>
            <a:r>
              <a:rPr sz="1600"/>
              <a:t>08-cheat-sheets/ — decision trees and anti-patterns the validators encode.</a:t>
            </a:r>
          </a:p>
          <a:p>
            <a:pPr>
              <a:spcAft>
                <a:spcPts val="600"/>
              </a:spcAft>
            </a:pPr>
            <a:r>
              <a:rPr sz="1600"/>
              <a:t>Codex review pipeline (gpt-5.5 with multi-vendor fallback) on every PR.</a:t>
            </a:r>
          </a:p>
          <a:p>
            <a:pPr algn="l">
              <a:spcAft>
                <a:spcPts val="800"/>
              </a:spcAft>
            </a:pPr>
            <a:r>
              <a:rPr sz="1800"/>
              <a:t>You are not starting from a blank Next.js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you'd build in Phase 1 (~18 days)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Tickets, file paths, and acceptance criteria are in ./content-pack-management-plan.md §C9–C11.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Monorepo (pnpm workspaces) + Drizzle schema + Clerk + R2 wired in web/. RLS isolation test green.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Astro marketing site at marketing/, deployed; LOI / waitlist / Stripe pre-order links live; /api/leads storing rows; Resend confirmation emails.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Learner app: catalog browse, lesson page, quiz runner, progress, search, suggestion submit. Mobile Lighthouse ≥90.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Admin app: import draft, server-side validators, version diff, lint mode, suggestions queue, knowledge file upload, leads dashboard.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Operator authoring loop: /.claude/skills/draft-topic skill + pnpm lint:draft script + seeding from existing content packs.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/>
                        <a:t>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~2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Verification: 12-step end-to-end + Lighthouse + RLS isolation + accessibility on marketing forms.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you'd build in 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Each item ships behind a feature flag:</a:t>
            </a:r>
          </a:p>
          <a:p>
            <a:pPr/>
            <a:r>
              <a:rPr sz="1600"/>
              <a:t>In-app generation pipeline — Inngest generate → validate → critique → route → publish; SSE streams to admin UI.</a:t>
            </a:r>
          </a:p>
          <a:p>
            <a:pPr/>
            <a:r>
              <a:rPr sz="1600"/>
              <a:t>Critic stage — Opus reviewer prompt outputting {confidence, findings, suggested_edits}; answer-justification audit.</a:t>
            </a:r>
          </a:p>
          <a:p>
            <a:pPr/>
            <a:r>
              <a:rPr sz="1600"/>
              <a:t>Confidence routing — B2C auto-publish at conf ≥0.85 with 1-in-20 spot-check; B2B human-required by default.</a:t>
            </a:r>
          </a:p>
          <a:p>
            <a:pPr/>
            <a:r>
              <a:rPr sz="1600"/>
              <a:t>B2B controls — SME role (Clerk role), two-eye gate, per-tenant private catalogs, SAML/SCIM via Clerk Enterprise.</a:t>
            </a:r>
          </a:p>
          <a:p>
            <a:pPr/>
            <a:r>
              <a:rPr sz="1600"/>
              <a:t>Stripe billing — webhook → tenant.plan; B2C $9/mo Pro, B2B per-seat with $100/mo minimum.</a:t>
            </a:r>
          </a:p>
          <a:p>
            <a:pPr/>
            <a:r>
              <a:rPr sz="1600"/>
              <a:t>Embedding-based suggestion dedup — replaces Phase 1 TF-IDF; Voyage voyage-3-lite.</a:t>
            </a:r>
          </a:p>
          <a:p>
            <a:pPr/>
            <a:r>
              <a:rPr sz="1600"/>
              <a:t>Post-publish quality signals — nightly aggregation; pause-not-pull at &lt;30% correct over ≥30 attempts.</a:t>
            </a:r>
          </a:p>
          <a:p>
            <a:pPr/>
            <a:r>
              <a:rPr sz="1600"/>
              <a:t>Calibration loop — bounded few-shot (8) + anti-pattern rules.</a:t>
            </a:r>
          </a:p>
          <a:p>
            <a:pPr/>
            <a:r>
              <a:rPr sz="1600"/>
              <a:t>Cross-tenant catalog import (v2) — pinned versions, "update available" prompt.</a:t>
            </a:r>
          </a:p>
          <a:p>
            <a:pPr>
              <a:spcAft>
                <a:spcPts val="600"/>
              </a:spcAft>
            </a:pPr>
            <a:r>
              <a:rPr sz="1600"/>
              <a:t>Cost dashboards — per-tenant token spend, alerts at 80% / 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HITL design (subtle, important)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Refined over 3 plan rounds. The bit teams typically get wrong:</a:t>
            </a:r>
          </a:p>
          <a:p>
            <a:pPr algn="l">
              <a:spcAft>
                <a:spcPts val="800"/>
              </a:spcAft>
            </a:pPr>
            <a:r>
              <a:rPr sz="1800"/>
              <a:t>Humans decide one of three things, at most:</a:t>
            </a:r>
          </a:p>
          <a:p>
            <a:pPr/>
            <a:r>
              <a:rPr sz="1600"/>
              <a:t>Approve — content goes live as drafted.</a:t>
            </a:r>
          </a:p>
          <a:p>
            <a:pPr/>
            <a:r>
              <a:rPr sz="1600"/>
              <a:t>Approve with edits — edited inline; goes live edited.</a:t>
            </a:r>
          </a:p>
          <a:p>
            <a:pPr>
              <a:spcAft>
                <a:spcPts val="600"/>
              </a:spcAft>
            </a:pPr>
            <a:r>
              <a:rPr sz="1600"/>
              <a:t>Reject with reason — reason becomes a few-shot example, then an anti-pattern rule.</a:t>
            </a:r>
          </a:p>
          <a:p>
            <a:pPr algn="l">
              <a:spcAft>
                <a:spcPts val="800"/>
              </a:spcAft>
            </a:pPr>
            <a:r>
              <a:rPr sz="1800"/>
              <a:t>Everything else is automated:</a:t>
            </a:r>
          </a:p>
          <a:p>
            <a:pPr/>
            <a:r>
              <a:rPr sz="1600"/>
              <a:t>Running validators (server, deterministic).</a:t>
            </a:r>
          </a:p>
          <a:p>
            <a:pPr/>
            <a:r>
              <a:rPr sz="1600"/>
              <a:t>Computing critic confidence (Opus, JSON output).</a:t>
            </a:r>
          </a:p>
          <a:p>
            <a:pPr/>
            <a:r>
              <a:rPr sz="1600"/>
              <a:t>Picking which drafts the human sees (confidence &lt; 0.85, OR validator failed, OR justification audit failed, OR sampled spot-check).</a:t>
            </a:r>
          </a:p>
          <a:p>
            <a:pPr>
              <a:spcAft>
                <a:spcPts val="600"/>
              </a:spcAft>
            </a:pPr>
            <a:r>
              <a:rPr sz="1600"/>
              <a:t>Building the side-by-side diff view.</a:t>
            </a:r>
          </a:p>
          <a:p>
            <a:pPr algn="l">
              <a:spcAft>
                <a:spcPts val="800"/>
              </a:spcAft>
            </a:pPr>
            <a:r>
              <a:rPr sz="1800"/>
              <a:t>Anti-pattern guardrails:</a:t>
            </a:r>
          </a:p>
          <a:p>
            <a:pPr/>
            <a:r>
              <a:rPr sz="1600"/>
              <a:t>"AI tells the human everything is fine" risk — critic and drafter from same family miss same blind spots. Mitigation: Opus critic on Sonnet drafts (stronger reviewer); cross-vendor critic via OpenRouter as v2 escape hatch.</a:t>
            </a:r>
          </a:p>
          <a:p>
            <a:pPr>
              <a:spcAft>
                <a:spcPts val="600"/>
              </a:spcAft>
            </a:pPr>
            <a:r>
              <a:rPr sz="1600"/>
              <a:t>Validators are vendor-independent and catch the F1–F8 modes regardless of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The validator library (the moat)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latin typeface="Consolas"/>
              </a:rPr>
              <a:t>// /packages/shared/src/validators/index.ts (P1 deliverable)
import { z } from 'zod';
export const conceptSchema = z.object({
  slug: z.string(),
  lesson: z.string().min(200).max(2000),
  quiz: z.array(quizQuestionSchema).length(3),
  // ...
});
export const validators = [
  schemaValidator,            // Zod shape
  letterDistributionValidator, // F-code F3: B-bias detector
  spoilerValidator,            // F-code F1: stem leaks the answer
  distractorDifferentiationValidator, // F-code F4
  closedListWhitelistValidator, // F-code F2: forbidden phrases
  crossRefValidator,           // F-code F5: broken internal links
  // 17 more...
];
export function lintDraft(draft: ConceptDraft): LintResult {
  return validators.flatMap(v =&gt; v.run(draft));
}</a:t>
            </a:r>
          </a:p>
          <a:p>
            <a:pPr algn="l">
              <a:spcAft>
                <a:spcPts val="800"/>
              </a:spcAft>
            </a:pPr>
            <a:r>
              <a:rPr sz="1800"/>
              <a:t>Reused in three places: local lint script (operator's Claude Code loop), admin server-side import handler, and (Phase 2) the critic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Tooling &amp; 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No exotic stack. No gRPC, no Protobuf, no Kubernetes, no DIY auth.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285750">
                <a:tc>
                  <a:txBody>
                    <a:bodyPr/>
                    <a:lstStyle/>
                    <a:p/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Next.js 15 (App Router)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Already in repo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TypeScript 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Already in repo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Drizzle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Type-safe, lightweight, plays nice with Neon HTTP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Neon Postgres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Serverless, generous free tier, branch-per-PR for previews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Clerk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Best-in-class B2C+B2B; Organizations for tenancy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File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Cloudflare 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Free egress, S3-compatible API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Tailwind v4 + shadcn/ui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Fast, predictable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UI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Radix primitives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Accessible by default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Vitest + Playwright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Already in repo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Job queue (P2)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Inngest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Serverless-native; cron + step retries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AI (P2)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Anthropic Claude (Sonnet drafter, Opus critic)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Caching support, JSON tool use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PostHog + Sentry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Free tiers cover early commercial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Resend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Markdown templates, generous free tier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Vercel (Hobby → Pro at first $1)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Familiar; ships fast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100"/>
                        <a:t>Repo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pnpm workspaces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Multi-package monorepo without Turbo overhead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Tech debt / known gaps (deliberate)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Phase 1 ships intentionally minimal. Things you'll see and want to "fix" — but don't, until Phase 2:</a:t>
            </a:r>
          </a:p>
          <a:p>
            <a:pPr/>
            <a:r>
              <a:rPr sz="1600"/>
              <a:t>TF-IDF + Jaccard for suggestion dedup, not embeddings. Adequate at Phase 1 volume; replaced in Phase 2.</a:t>
            </a:r>
          </a:p>
          <a:p>
            <a:pPr/>
            <a:r>
              <a:rPr sz="1600"/>
              <a:t>No Inngest in Phase 1. Quality-signal aggregation is a Vercel cron job (1 per day).</a:t>
            </a:r>
          </a:p>
          <a:p>
            <a:pPr/>
            <a:r>
              <a:rPr sz="1600"/>
              <a:t>No SSO in Phase 1 (Clerk magic-link is enough for early B2B pilots).</a:t>
            </a:r>
          </a:p>
          <a:p>
            <a:pPr/>
            <a:r>
              <a:rPr sz="1600"/>
              <a:t>Stripe Payment Link only for pre-orders, not full subscription billing. Real billing in Phase 2.</a:t>
            </a:r>
          </a:p>
          <a:p>
            <a:pPr/>
            <a:r>
              <a:rPr sz="1600"/>
              <a:t>No SME role / two-eye gate in Phase 1. POC B2B = shared catalogs with B2C.</a:t>
            </a:r>
          </a:p>
          <a:p>
            <a:pPr/>
            <a:r>
              <a:rPr sz="1600"/>
              <a:t>No SOC2 — formal audit deferred until 5+ enterprise pipeline. Tenant isolation, audit log, soft-delete already designed in.</a:t>
            </a:r>
          </a:p>
          <a:p>
            <a:pPr>
              <a:spcAft>
                <a:spcPts val="600"/>
              </a:spcAft>
            </a:pPr>
            <a:r>
              <a:rPr sz="1600"/>
              <a:t>No cross-vendor critic — Opus-on-Sonnet at v1; cross-vendor becomes a v2 escape hatch on first quality incident.</a:t>
            </a:r>
          </a:p>
          <a:p>
            <a:pPr algn="l">
              <a:spcAft>
                <a:spcPts val="800"/>
              </a:spcAft>
            </a:pPr>
            <a:r>
              <a:rPr sz="1800"/>
              <a:t>These are documented in §C12 of the plan as "what we deliberately did not do."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Cadence &amp; decision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Founder/operator owns product priorities, customer convos, content authoring (in Phase 1 they're the SME).</a:t>
            </a:r>
          </a:p>
          <a:p>
            <a:pPr/>
            <a:r>
              <a:rPr sz="1600"/>
              <a:t>Engineer/collaborator owns architecture, code review gate, test gate, performance budgets.</a:t>
            </a:r>
          </a:p>
          <a:p>
            <a:pPr/>
            <a:r>
              <a:rPr sz="1600"/>
              <a:t>External review: every PR goes through a codex (gpt-5.5 with multi-vendor fallback) review workflow that posts a labeled comment. codex-blockers label = don't merge until addressed.</a:t>
            </a:r>
          </a:p>
          <a:p>
            <a:pPr/>
            <a:r>
              <a:rPr sz="1600"/>
              <a:t>Async-first. Sync is for unblocking, not status.</a:t>
            </a:r>
          </a:p>
          <a:p>
            <a:pPr>
              <a:spcAft>
                <a:spcPts val="600"/>
              </a:spcAft>
            </a:pPr>
            <a:r>
              <a:rPr sz="1600"/>
              <a:t>No standups. PR descriptions and the codex review serve as the audit trail.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we're looking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Senior full-stack — comfortable with TS, Postgres, Next.js App Router.</a:t>
            </a:r>
          </a:p>
          <a:p>
            <a:pPr/>
            <a:r>
              <a:rPr sz="1600"/>
              <a:t>Opinionated about LLM evaluation and prompt engineering — not "let's prompt-tune" but "let's design the eval suite first".</a:t>
            </a:r>
          </a:p>
          <a:p>
            <a:pPr/>
            <a:r>
              <a:rPr sz="1600"/>
              <a:t>Comfortable with shipping a paid product before adding hires (this isn't a fund-the-team situation).</a:t>
            </a:r>
          </a:p>
          <a:p>
            <a:pPr/>
            <a:r>
              <a:rPr sz="1600"/>
              <a:t>Bias for shipping over architecting; suspicious of premature abstraction.</a:t>
            </a:r>
          </a:p>
          <a:p>
            <a:pPr>
              <a:spcAft>
                <a:spcPts val="600"/>
              </a:spcAft>
            </a:pPr>
            <a:r>
              <a:rPr sz="1600"/>
              <a:t>Either a co-founder shape (equity-heavy, unpaid until revenue) or a first-hire shape (cash + small equity once Phase 1 hits the gate).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What we are NOT looking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/>
              <a:t>Someone who wants to refactor before shipping.</a:t>
            </a:r>
          </a:p>
          <a:p>
            <a:pPr/>
            <a:r>
              <a:rPr sz="1600"/>
              <a:t>Someone who wants to use this as their first AI/LLM project (we need pattern-recognition, not learning-on-the-job here).</a:t>
            </a:r>
          </a:p>
          <a:p>
            <a:pPr/>
            <a:r>
              <a:rPr sz="1600"/>
              <a:t>Someone who needs a salary in month 1 — Phase 1 has no revenue and no fundraising.</a:t>
            </a:r>
          </a:p>
          <a:p>
            <a:pPr>
              <a:spcAft>
                <a:spcPts val="600"/>
              </a:spcAft>
            </a:pPr>
            <a:r>
              <a:rPr sz="1600"/>
              <a:t>Someone who wants to add another framework / language / orchestration layer to the stack.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/>
              <a:t>If this looks interesting:</a:t>
            </a:r>
          </a:p>
          <a:p>
            <a:pPr/>
            <a:r>
              <a:rPr sz="1600"/>
              <a:t>Read the detailed plan (./content-pack-management-plan.md) — focus on §C2, §C5, §C7, §C12.</a:t>
            </a:r>
          </a:p>
          <a:p>
            <a:pPr/>
            <a:r>
              <a:rPr sz="1600"/>
              <a:t>30-minute call to talk about your projects + your read on this plan + what you'd change. No commitment from either side.</a:t>
            </a:r>
          </a:p>
          <a:p>
            <a:pPr>
              <a:spcAft>
                <a:spcPts val="600"/>
              </a:spcAft>
            </a:pPr>
            <a:r>
              <a:rPr sz="1600"/>
              <a:t>If we click, we agree on a Phase 1 scope you'd own (probably one of P1, P3, or P4).</a:t>
            </a:r>
          </a:p>
          <a:p>
            <a:pPr algn="l">
              <a:spcAft>
                <a:spcPts val="800"/>
              </a:spcAft>
            </a:pPr>
            <a:r>
              <a:rPr sz="1800"/>
              <a:t>Contact: [operator email] • [scheduling link]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In one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i="1">
                <a:solidFill>
                  <a:srgbClr val="4A4A6E"/>
                </a:solidFill>
              </a:rPr>
              <a:t>We've got a quality-loop architecture that solves the AI-content trust problem, a real validator library already in production use, and a discipline of not building the expensive part until paying intent is signed — and we're looking for one strong technical partner who'll help ship Phase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