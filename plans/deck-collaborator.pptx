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A1A2E"/>
                </a:solidFill>
              </a:rPr>
              <a:t>Content Pack Management Platform — Technical Collaborator Brief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i="1">
                <a:solidFill>
                  <a:srgbClr val="4A4A6E"/>
                </a:solidFill>
              </a:rPr>
              <a:t>Slide-style deck for a senior engineer evaluating joining as co-founder, first hire, or technical advisor. Engineering-language; assumes you can read TypeScript and SQL. Slide breaks are marked by ---.
Companion docs: ./content-pack-management-plan.md, ./deck-overview.md, ./deck-investor.md, ./deck-b2b-prospect.md.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Content Pack Management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A B2C/B2B learning platform with a deliberate quality loop: AI drafter → deterministic validators → stronger-model critic → human gate.</a:t>
            </a:r>
          </a:p>
          <a:p>
            <a:pPr algn="l">
              <a:spcAft>
                <a:spcPts val="800"/>
              </a:spcAft>
            </a:pPr>
            <a:r>
              <a:rPr sz="1800"/>
              <a:t>For: a senior engineer or technical co-founder. ~10-minute read. Assumes the detailed plan is the source of truth for everything below.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Product in one paragraph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A learning platform where AI drafts lessons + quizzes from operator-supplied knowledge files; a library of deterministic validators catches a documented set of AI failure modes; a stronger reviewer model audits the drafter; and a human always approves before publish. Two markets (B2C self-service + B2B with SME review) share one platform. The killer feature is the quality loop, not the lessons themselves.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Why this is technically interesting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Three things that aren't templated SaaS:</a:t>
            </a:r>
          </a:p>
          <a:p>
            <a:pPr/>
            <a:r>
              <a:rPr sz="1600"/>
              <a:t>The validator library is the moat — 23 documented AI-content failure modes (F1–F8 cognitive failure-mode taxonomy) catalogued from real misses. Vendor-independent. Reused across local lint, server-side import, and the commercial critic stage.</a:t>
            </a:r>
          </a:p>
          <a:p>
            <a:pPr/>
            <a:r>
              <a:rPr sz="1600"/>
              <a:t>HITL pipeline that doesn't burn out the reviewer — the hard part isn't catching bad AI output; it's surfacing the right thing to the human at the right time, with pre-computed findings and side-by-side diffs. Most teams get this wrong.</a:t>
            </a:r>
          </a:p>
          <a:p>
            <a:pPr>
              <a:spcAft>
                <a:spcPts val="600"/>
              </a:spcAft>
            </a:pPr>
            <a:r>
              <a:rPr sz="1600"/>
              <a:t>Multi-tenant from day 1, on serverless Postgres — RLS at the connection layer, with the Neon HTTP driver to avoid pool-reuse leaks. Verified by an integration test that asserts cross-tenant queries return 0 rows.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The hard problems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828800"/>
          <a:ext cx="1124712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Problem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Why it's hard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Our angle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Catching AI failure modes deterministically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LLM output looks plausible even when it's wrong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Pre-existing F1–F8 taxonomy + Zod + bias detection + spoiler detection + cross-ref checks; runs in ~50ms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HITL UX that scales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SME burns out at &gt;15 min/day per tenant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Pre-computed findings, side-by-side diffs, three-button decision (approve / approve+edit / reject); target ≤10 min/day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RLS on serverless Postgres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Connection pool reuse leaks tenant context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Neon HTTP driver (fresh connection per request); withTenant(...) helper; integration test enforces it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AI cost discipline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One bad config = $10k/day burn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Per-tenant monthly budget cap, server-enforced; UI burn meter; alerts at 80% and 100%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Calibration loop without prompt growth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Naive few-shot accumulation blows context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Cap at 8 most-recent rejections; older ones summarised into anti-pattern rules in the system prompt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Architecture at a glance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>
                <a:latin typeface="Consolas"/>
              </a:rPr>
              <a:t>┌──────────────────────────────────────────────────────────────────────┐
│  Astro marketing site (separate Vercel project, www subdomain)       │
│   - LOI form (B2B), waitlist (B2C), Stripe pre-order Payment Link    │
└──────────────────────────────────────────────────────────────────────┘
                                   │
                                   ▼ POST /api/leads
┌──────────────────────────────────────────────────────────────────────┐
│  Next.js app on Vercel (app subdomain)                               │
│   Route groups: (public) / (learner) / (admin)                       │
│   Auth: Clerk; tenant via Clerk Organizations                        │
└──────────────────────────────────────────────────────────────────────┘
              │                     │                     │
              ▼                     ▼                     ▼
       ┌────────────┐       ┌──────────────┐      ┌──────────────────┐
       │ Postgres   │       │ Cloudflare R2│      │ PostHog / Sentry │
       │ (Neon)     │       │  pack JSON   │      │ Resend (email)   │
       │  RLS       │       │  knowledge   │      │                  │
       └────────────┘       └──────────────┘      └──────────────────┘</a:t>
            </a:r>
          </a:p>
          <a:p>
            <a:pPr algn="l">
              <a:spcAft>
                <a:spcPts val="800"/>
              </a:spcAft>
            </a:pPr>
            <a:r>
              <a:rPr sz="1800"/>
              <a:t>Phase 2 adds an Inngest pipeline (generate → validate → critique → route → publish) and Stripe.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What's built 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In the existing repo at /home/user/cca-f-prep:</a:t>
            </a:r>
          </a:p>
          <a:p>
            <a:pPr/>
            <a:r>
              <a:rPr sz="1600"/>
              <a:t>web/ — Next.js App Router skeleton, Tailwind v4, shadcn/ui, Playwright e2e, Vitest unit tests.</a:t>
            </a:r>
          </a:p>
          <a:p>
            <a:pPr/>
            <a:r>
              <a:rPr sz="1600"/>
              <a:t>web/content-packs/ — three live content packs including the actual CCA-F study material we drink-our-own-champagne with.</a:t>
            </a:r>
          </a:p>
          <a:p>
            <a:pPr/>
            <a:r>
              <a:rPr sz="1600"/>
              <a:t>web/src/content/curriculum-types.ts — schema we extend.</a:t>
            </a:r>
          </a:p>
          <a:p>
            <a:pPr/>
            <a:r>
              <a:rPr sz="1600"/>
              <a:t>06-failure-analysis/error-log.md — the F1–F12 cognitive failure-mode taxonomy and 23 documented failure modes (extended from F1–F8 in the methodology layer to cover JOL miscalibration, transfer failure, fluency illusion, and cue-bias / surface-feature bias). Each F-code has a mechanism crosswalk citing research source and standard remediation.</a:t>
            </a:r>
          </a:p>
          <a:p>
            <a:pPr/>
            <a:r>
              <a:rPr sz="1600"/>
              <a:t>08-cheat-sheets/ — decision trees and anti-patterns the validators encode (now includes learner re-engagement tree, SME content-elicitation tree, and segment-aware mechanism selection tree).</a:t>
            </a:r>
          </a:p>
          <a:p>
            <a:pPr/>
            <a:r>
              <a:rPr sz="1600"/>
              <a:t>09-progress-tracker/spaced-review.md and skills-matrix.md — the calibration-Δ and JOL doctrine the LM6 surface implements.</a:t>
            </a:r>
          </a:p>
          <a:p>
            <a:pPr>
              <a:spcAft>
                <a:spcPts val="600"/>
              </a:spcAft>
            </a:pPr>
            <a:r>
              <a:rPr sz="1600"/>
              <a:t>Codex review pipeline (gpt-5.5 with multi-vendor fallback) on every PR.</a:t>
            </a:r>
          </a:p>
          <a:p>
            <a:pPr algn="l">
              <a:spcAft>
                <a:spcPts val="800"/>
              </a:spcAft>
            </a:pPr>
            <a:r>
              <a:rPr sz="1800"/>
              <a:t>You are not starting from a blank Next.js project.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What you'd build in Phase 1 (~18 days)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Tickets, file paths, and acceptance criteria are in ./content-pack-management-plan.md §C9–C11.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828800"/>
          <a:ext cx="1124712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Phase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Days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Deliverable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P1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~3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Monorepo (pnpm workspaces) + Drizzle schema + Clerk + R2 wired in web/. RLS isolation test green.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~3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Astro marketing site at marketing/, deployed; LOI / waitlist / Stripe pre-order links live; /api/leads storing rows; Resend confirmation emails.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P3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~4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Learner app: catalog browse, lesson page, quiz runner, progress, search, suggestion submit. Mobile Lighthouse ≥90.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P4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~4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Admin app: import draft, server-side validators, version diff, lint mode, suggestions queue, knowledge file upload, leads dashboard.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P5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~2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Operator authoring loop: /.claude/skills/draft-topic skill + pnpm lint:draft script + seeding from existing content packs.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P6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~2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Verification: 12-step end-to-end + Lighthouse + RLS isolation + accessibility on marketing forms.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What you'd build in Phase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Each item ships behind a feature flag:</a:t>
            </a:r>
          </a:p>
          <a:p>
            <a:pPr/>
            <a:r>
              <a:rPr sz="1600"/>
              <a:t>In-app generation pipeline — Inngest generate → validate → critique → route → publish; SSE streams to admin UI.</a:t>
            </a:r>
          </a:p>
          <a:p>
            <a:pPr/>
            <a:r>
              <a:rPr sz="1600"/>
              <a:t>Critic stage — Opus reviewer prompt outputting {confidence, findings, suggested_edits}; answer-justification audit.</a:t>
            </a:r>
          </a:p>
          <a:p>
            <a:pPr/>
            <a:r>
              <a:rPr sz="1600"/>
              <a:t>Confidence routing — B2C auto-publish at conf ≥0.85 with 1-in-20 spot-check; B2B human-required by default.</a:t>
            </a:r>
          </a:p>
          <a:p>
            <a:pPr/>
            <a:r>
              <a:rPr sz="1600"/>
              <a:t>B2B controls — SME role (Clerk role), two-eye gate, per-tenant private catalogs, SAML/SCIM via Clerk Enterprise.</a:t>
            </a:r>
          </a:p>
          <a:p>
            <a:pPr/>
            <a:r>
              <a:rPr sz="1600"/>
              <a:t>Stripe billing — webhook → tenant.plan; B2C $9/mo Pro, B2B per-seat with $100/mo minimum.</a:t>
            </a:r>
          </a:p>
          <a:p>
            <a:pPr/>
            <a:r>
              <a:rPr sz="1600"/>
              <a:t>Embedding-based suggestion dedup — replaces Phase 1 TF-IDF; Voyage voyage-3-lite.</a:t>
            </a:r>
          </a:p>
          <a:p>
            <a:pPr/>
            <a:r>
              <a:rPr sz="1600"/>
              <a:t>Post-publish quality signals — nightly aggregation; pause-not-pull at &lt;30% correct over ≥30 attempts.</a:t>
            </a:r>
          </a:p>
          <a:p>
            <a:pPr/>
            <a:r>
              <a:rPr sz="1600"/>
              <a:t>Calibration loop — bounded few-shot (8) + anti-pattern rules.</a:t>
            </a:r>
          </a:p>
          <a:p>
            <a:pPr/>
            <a:r>
              <a:rPr sz="1600"/>
              <a:t>Cross-tenant catalog import (v2) — pinned versions, "update available" prompt.</a:t>
            </a:r>
          </a:p>
          <a:p>
            <a:pPr/>
            <a:r>
              <a:rPr sz="1600"/>
              <a:t>Cost dashboards — per-tenant token spend, alerts at 80% / 100%.</a:t>
            </a:r>
          </a:p>
          <a:p>
            <a:pPr/>
            <a:r>
              <a:rPr sz="1600"/>
              <a:t>Calibration-Δ surface — JOL pre-answer captured in quiz runner; Δ written to progress server table; trend visible in dashboard stats panel. Implements LM6 (Dunlosky &amp; Bjork; Kruger &amp; Dunning 1999).</a:t>
            </a:r>
          </a:p>
          <a:p>
            <a:pPr/>
            <a:r>
              <a:rPr sz="1600"/>
              <a:t>SME blind-spot dashboard — per-SME critic-feedback aggregated; personalised authoring prompts surfaced before next draft. Implements SM8 (Ericsson 1993 — deliberate-practice feedback channel).</a:t>
            </a:r>
          </a:p>
          <a:p>
            <a:pPr/>
            <a:r>
              <a:rPr sz="1600"/>
              <a:t>Segment-affordance switchboard — per-tenant tenant_policy config selects which UI surface variation is active (deskless mobile / compliance-enterprise / B2C cohort / founder-SMB / high-PDI). One critic engine, many surfaces (cross-ref content-pack-management-plan §D6).</a:t>
            </a:r>
          </a:p>
          <a:p>
            <a:pPr/>
            <a:r>
              <a:rPr sz="1600"/>
              <a:t>xAPI emit hooks — events posted to mid-market / enterprise tenants' SCORM/xAPI LMS for L2 / L3 Kirkpatrick reporting in their existing L&amp;D dashboards.</a:t>
            </a:r>
          </a:p>
          <a:p>
            <a:pPr>
              <a:spcAft>
                <a:spcPts val="600"/>
              </a:spcAft>
            </a:pPr>
            <a:r>
              <a:rPr sz="1600"/>
              <a:t>WCAG 2.2 AA + Section 508 conformance — public-sector / enterprise prerequisite; accessibility audit passed before Enterprise tier is sold.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The HITL design (subtle, important)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Refined over 3 plan rounds. The bit teams typically get wrong:</a:t>
            </a:r>
          </a:p>
          <a:p>
            <a:pPr algn="l">
              <a:spcAft>
                <a:spcPts val="800"/>
              </a:spcAft>
            </a:pPr>
            <a:r>
              <a:rPr sz="1800"/>
              <a:t>Humans decide one of three things, at most:</a:t>
            </a:r>
          </a:p>
          <a:p>
            <a:pPr/>
            <a:r>
              <a:rPr sz="1600"/>
              <a:t>Approve — content goes live as drafted.</a:t>
            </a:r>
          </a:p>
          <a:p>
            <a:pPr/>
            <a:r>
              <a:rPr sz="1600"/>
              <a:t>Approve with edits — edited inline; goes live edited.</a:t>
            </a:r>
          </a:p>
          <a:p>
            <a:pPr>
              <a:spcAft>
                <a:spcPts val="600"/>
              </a:spcAft>
            </a:pPr>
            <a:r>
              <a:rPr sz="1600"/>
              <a:t>Reject with reason — reason becomes a few-shot example, then an anti-pattern rule.</a:t>
            </a:r>
          </a:p>
          <a:p>
            <a:pPr algn="l">
              <a:spcAft>
                <a:spcPts val="800"/>
              </a:spcAft>
            </a:pPr>
            <a:r>
              <a:rPr sz="1800"/>
              <a:t>Everything else is automated:</a:t>
            </a:r>
          </a:p>
          <a:p>
            <a:pPr/>
            <a:r>
              <a:rPr sz="1600"/>
              <a:t>Running validators (server, deterministic).</a:t>
            </a:r>
          </a:p>
          <a:p>
            <a:pPr/>
            <a:r>
              <a:rPr sz="1600"/>
              <a:t>Computing critic confidence (Opus, JSON output).</a:t>
            </a:r>
          </a:p>
          <a:p>
            <a:pPr/>
            <a:r>
              <a:rPr sz="1600"/>
              <a:t>Picking which drafts the human sees (confidence &lt; 0.85, OR validator failed, OR justification audit failed, OR sampled spot-check).</a:t>
            </a:r>
          </a:p>
          <a:p>
            <a:pPr>
              <a:spcAft>
                <a:spcPts val="600"/>
              </a:spcAft>
            </a:pPr>
            <a:r>
              <a:rPr sz="1600"/>
              <a:t>Building the side-by-side diff view.</a:t>
            </a:r>
          </a:p>
          <a:p>
            <a:pPr algn="l">
              <a:spcAft>
                <a:spcPts val="800"/>
              </a:spcAft>
            </a:pPr>
            <a:r>
              <a:rPr sz="1800"/>
              <a:t>Anti-pattern guardrails:</a:t>
            </a:r>
          </a:p>
          <a:p>
            <a:pPr/>
            <a:r>
              <a:rPr sz="1600"/>
              <a:t>"AI tells the human everything is fine" risk — critic and drafter from same family miss same blind spots. Mitigation: Opus critic on Sonnet drafts (stronger reviewer); cross-vendor critic via OpenRouter as v2 escape hatch.</a:t>
            </a:r>
          </a:p>
          <a:p>
            <a:pPr>
              <a:spcAft>
                <a:spcPts val="600"/>
              </a:spcAft>
            </a:pPr>
            <a:r>
              <a:rPr sz="1600"/>
              <a:t>Validators are vendor-independent and catch the F1–F8 modes regardless of model.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The validator library (the moat)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>
                <a:latin typeface="Consolas"/>
              </a:rPr>
              <a:t>// /packages/shared/src/validators/index.ts (P1 deliverable)
import { z } from 'zod';
export const conceptSchema = z.object({
  slug: z.string(),
  lesson: z.string().min(200).max(2000),
  quiz: z.array(quizQuestionSchema).length(3),
  // ...
});
export const validators = [
  schemaValidator,            // Zod shape
  letterDistributionValidator, // F-code F3: B-bias detector
  spoilerValidator,            // F-code F1: stem leaks the answer
  distractorDifferentiationValidator, // F-code F4
  closedListWhitelistValidator, // F-code F2: forbidden phrases
  crossRefValidator,           // F-code F5: broken internal links
  // 17 more...
];
export function lintDraft(draft: ConceptDraft): LintResult {
  return validators.flatMap(v =&gt; v.run(draft));
}</a:t>
            </a:r>
          </a:p>
          <a:p>
            <a:pPr algn="l">
              <a:spcAft>
                <a:spcPts val="800"/>
              </a:spcAft>
            </a:pPr>
            <a:r>
              <a:rPr sz="1800"/>
              <a:t>Reused in three places: local lint script (operator's Claude Code loop), admin server-side import handler, and (Phase 2) the critic pipeline.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Mechanics-to-mechanism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The retention claims aren't aspirational. Each product surface is wired to a peer-reviewed cognitive-psychology mechanism with a measurable outcome. The L-codes are referenced from ./content-pack-management-plan.md § D1 / § D7.</a:t>
            </a:r>
          </a:p>
          <a:p>
            <a:pPr algn="l">
              <a:spcAft>
                <a:spcPts val="800"/>
              </a:spcAft>
            </a:pPr>
            <a:r>
              <a:rPr sz="1800"/>
              <a:t>SME side (SM1–SM8) is the same shape — see §D2 of the plan.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240280"/>
          <a:ext cx="11247120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Feature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Research source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Measured outcome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LM1 Spaced-review banner (expanding interval 1/3/7/14/30d)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Cepeda et al. 2008 (Psych Sci); Murre &amp; Dros 2015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D7 cohort-retention lift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LM2 Mid-lesson retrieval gate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Roediger &amp; Karpicke 2006; Karpicke &amp; Blunt 2011 (Science)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Mock pass-rate lift; calibration-Δ closure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LM3 Generation-before-reveal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Slamecka &amp; Graf 1978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Long-term retention +30%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LM4 Interleaved recommender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Rohrer &amp; Taylor 2007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Transfer-question accuracy lift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LM5 Worked-example fading + expertise-reversal cutover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Sweller, van Merriënboer &amp; Paas 2019; Kalyuga 2003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Per-rung intervention efficacy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LM6 Calibration 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Dunlosky &amp; Bjork; Kruger &amp; Dunning 1999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Calibration-Δ trend toward 0.5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LM7 Streak push (variable-ratio)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Eyal 2014; Skinner; Mazal 2022 (Duolingo)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CURR +21%, DAU 4.5× precedent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LM8 Cohort surface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Maven W1→W2 96% vs MOOC 16%; Reich &amp; Ruipérez-Valiente 2019 (Science)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Course-completion rate ≥ 60% target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Phase-2 elicitation tooling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Drafter + critic + SME-facing UI implementing SM1–SM8:</a:t>
            </a:r>
          </a:p>
          <a:p>
            <a:pPr algn="l">
              <a:spcAft>
                <a:spcPts val="800"/>
              </a:spcAft>
            </a:pPr>
            <a:r>
              <a:rPr sz="1800"/>
              <a:t>Drafter prompt schema — required JSON fields matching the 5-probe CTA tree from 08-cheat-sheets/decision-trees.md § 6:</a:t>
            </a:r>
          </a:p>
          <a:p>
            <a:pPr>
              <a:spcAft>
                <a:spcPts val="600"/>
              </a:spcAft>
            </a:pPr>
            <a:r>
              <a:rPr sz="1100">
                <a:latin typeface="Consolas"/>
              </a:rPr>
              <a:t>type DrafterIntake = {
  novice_error: string;          // (a) expert-blind-spot probe
  one_principle: string;         // (b) backward-design — closed taxonomy
  worked_example: string;        // (c) Sweller worked-example
  faded_variant: string;         // (c) Sweller faded variant
  boundary_case: string;         // (d) CTA boundary probe
  nearest_confusable: string;    // (e) interleaving prep — Rohrer &amp; Taylor
};</a:t>
            </a:r>
          </a:p>
          <a:p>
            <a:pPr algn="l">
              <a:spcAft>
                <a:spcPts val="800"/>
              </a:spcAft>
            </a:pPr>
            <a:r>
              <a:rPr sz="1800"/>
              <a:t>Critic prompt schema (Opus on Sonnet drafts):</a:t>
            </a:r>
          </a:p>
          <a:p>
            <a:pPr>
              <a:spcAft>
                <a:spcPts val="600"/>
              </a:spcAft>
            </a:pPr>
            <a:r>
              <a:rPr sz="1100">
                <a:latin typeface="Consolas"/>
              </a:rPr>
              <a:t>type CriticOutput = {
  confidence: number;                          // 0..1
  missing_components: ('learning_tasks' | 'supportive_info' |
                       'jit_info' | 'part_task_practice')[];   // 4C/ID
  blind_spot_flags: string[];                  // SM4-style probes
  fcode_risks: ('F1' | 'F2' | ... | 'F12')[]; // pre-publish failure-mode scan
  suggested_probes: string[];                  // SM8 dashboard input
};</a:t>
            </a:r>
          </a:p>
          <a:p>
            <a:pPr algn="l">
              <a:spcAft>
                <a:spcPts val="800"/>
              </a:spcAft>
            </a:pPr>
            <a:r>
              <a:rPr sz="1800"/>
              <a:t>SME-facing UI affordances:</a:t>
            </a:r>
          </a:p>
          <a:p>
            <a:pPr>
              <a:spcAft>
                <a:spcPts val="600"/>
              </a:spcAft>
            </a:pPr>
            <a:r>
              <a:rPr sz="1600"/>
              <a:t>Principle-picker (closed taxonomy; rejection if free-typed and</a:t>
            </a:r>
          </a:p>
          <a:p>
            <a:pPr algn="l">
              <a:spcAft>
                <a:spcPts val="800"/>
              </a:spcAft>
            </a:pPr>
            <a:r>
              <a:rPr sz="1800"/>
              <a:t>unmapped) — pre-empts F12 cue-bias and F4 rationale gap.</a:t>
            </a:r>
          </a:p>
          <a:p>
            <a:pPr/>
            <a:r>
              <a:rPr sz="1600"/>
              <a:t>Worked-example pair editor (worked + faded variant required).</a:t>
            </a:r>
          </a:p>
          <a:p>
            <a:pPr/>
            <a:r>
              <a:rPr sz="1600"/>
              <a:t>"What would a novice get wrong?" textarea (SM4).</a:t>
            </a:r>
          </a:p>
          <a:p>
            <a:pPr/>
            <a:r>
              <a:rPr sz="1600"/>
              <a:t>Backward-design "write the test first" mode (SM2).</a:t>
            </a:r>
          </a:p>
          <a:p>
            <a:pPr>
              <a:spcAft>
                <a:spcPts val="600"/>
              </a:spcAft>
            </a:pPr>
            <a:r>
              <a:rPr sz="1600"/>
              <a:t>Per-SME blind-spot dashboard (SM8) showing aggregated critic</a:t>
            </a:r>
          </a:p>
          <a:p>
            <a:pPr algn="l">
              <a:spcAft>
                <a:spcPts val="800"/>
              </a:spcAft>
            </a:pPr>
            <a:r>
              <a:rPr sz="1800"/>
              <a:t>feedback over time + personalised authoring prompts.</a:t>
            </a:r>
          </a:p>
          <a:p>
            <a:pPr algn="l">
              <a:spcAft>
                <a:spcPts val="800"/>
              </a:spcAft>
            </a:pPr>
            <a:r>
              <a:rPr sz="1800"/>
              <a:t>Each surface tagged to which F1–F12 codes it pre-empts in the source comments (audit trail for the codex review pipeline).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Segment-aware UI/affordance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One critic engine + one CTA-probe schema + one calibration-Δ column, projected through segment-specific UI affordances. The mechanism set does not vary by segment — only the surface does.</a:t>
            </a:r>
          </a:p>
          <a:p>
            <a:pPr algn="l">
              <a:spcAft>
                <a:spcPts val="800"/>
              </a:spcAft>
            </a:pPr>
            <a:r>
              <a:rPr sz="1800"/>
              <a:t>That's the wiring diagram. One engine, segment-specific projections.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240280"/>
          <a:ext cx="1124712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Segment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UI/affordance variation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Phase-2 component (engineering wiring)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Deskless mobile (manufacturing / retail / hospitality / healthcare-frontline)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Voice-to-text capture; ≤ 3-min nano-format; offline cache; push at variable-ratio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web/src/app/(learner)/deskless/ route group; voice-capture.ts; service worker for offline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Compliance enterprise (finance / healthcare / government)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SCORM 2004 + xAPI emit; audit-trail; version-pin; role-based publish; WCAG 2.2 AA / Section 508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Inngest xapi-emit workflow; Postgres audit_log + version_pin tables; Clerk SAML/SCIM; accessibility-conformance test gate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B2C cert-prep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Streak + cohort + leaderboard + goal-gradient progress bar (Hook Model + SDT)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web/src/components/streak/; web/src/app/(learner)/cohort/[id]/; web/src/components/dashboard/GoalGradient.tsx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Founder / SMB single-SME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Succession-of-knowledge wizard (interview-record → CTA-extract → auto-draft → reviewer-pair)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Inngest interview-extract workflow; R2 audio bucket; auto-draft model call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High-PDI / face-saving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Leader-endorsement step gate before SME publish; anonymised peer review; critic copy framed as probe / suggestion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tenant_policy.publish_gate = 'leader_endorse'; copy-variant table for critic-output i18n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Tooling &amp; developer experience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No exotic stack. No gRPC, no Protobuf, no Kubernetes, no DIY auth.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828800"/>
          <a:ext cx="1124712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285750">
                <a:tc>
                  <a:txBody>
                    <a:bodyPr/>
                    <a:lstStyle/>
                    <a:p/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Choice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Why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100"/>
                        <a:t>Framework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Next.js 15 (App Router)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Already in repo</a:t>
                      </a:r>
                    </a:p>
                  </a:txBody>
                  <a:tcPr/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100"/>
                        <a:t>Language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TypeScript strict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Already in repo</a:t>
                      </a:r>
                    </a:p>
                  </a:txBody>
                  <a:tcPr/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100"/>
                        <a:t>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Drizzle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Type-safe, lightweight, plays nice with Neon HTTP</a:t>
                      </a:r>
                    </a:p>
                  </a:txBody>
                  <a:tcPr/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100"/>
                        <a:t>DB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Neon Postgres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Serverless, generous free tier, branch-per-PR for previews</a:t>
                      </a:r>
                    </a:p>
                  </a:txBody>
                  <a:tcPr/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100"/>
                        <a:t>Auth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Clerk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Best-in-class B2C+B2B; Organizations for tenancy</a:t>
                      </a:r>
                    </a:p>
                  </a:txBody>
                  <a:tcPr/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100"/>
                        <a:t>File storage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Cloudflare R2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Free egress, S3-compatible API</a:t>
                      </a:r>
                    </a:p>
                  </a:txBody>
                  <a:tcPr/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100"/>
                        <a:t>Styling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Tailwind v4 + shadcn/ui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Fast, predictable</a:t>
                      </a:r>
                    </a:p>
                  </a:txBody>
                  <a:tcPr/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100"/>
                        <a:t>UI components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Radix primitives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Accessible by default</a:t>
                      </a:r>
                    </a:p>
                  </a:txBody>
                  <a:tcPr/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100"/>
                        <a:t>Testing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Vitest + Playwright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Already in repo</a:t>
                      </a:r>
                    </a:p>
                  </a:txBody>
                  <a:tcPr/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100"/>
                        <a:t>Job queue (P2)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Inngest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Serverless-native; cron + step retries</a:t>
                      </a:r>
                    </a:p>
                  </a:txBody>
                  <a:tcPr/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100"/>
                        <a:t>AI (P2)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Anthropic Claude (Sonnet drafter, Opus critic)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Caching support, JSON tool use</a:t>
                      </a:r>
                    </a:p>
                  </a:txBody>
                  <a:tcPr/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100"/>
                        <a:t>Observability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PostHog + Sentry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Free tiers cover early commercial</a:t>
                      </a:r>
                    </a:p>
                  </a:txBody>
                  <a:tcPr/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100"/>
                        <a:t>Email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Resend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Markdown templates, generous free tier</a:t>
                      </a:r>
                    </a:p>
                  </a:txBody>
                  <a:tcPr/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100"/>
                        <a:t>Hosting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Vercel (Hobby → Pro at first $1)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Familiar; ships fast</a:t>
                      </a:r>
                    </a:p>
                  </a:txBody>
                  <a:tcPr/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100"/>
                        <a:t>Repo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pnpm workspaces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Multi-package monorepo without Turbo overhead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Tech debt / known gaps (deliberate)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Phase 1 ships intentionally minimal. Things you'll see and want to "fix" — but don't, until Phase 2:</a:t>
            </a:r>
          </a:p>
          <a:p>
            <a:pPr/>
            <a:r>
              <a:rPr sz="1600"/>
              <a:t>TF-IDF + Jaccard for suggestion dedup, not embeddings. Adequate at Phase 1 volume; replaced in Phase 2.</a:t>
            </a:r>
          </a:p>
          <a:p>
            <a:pPr/>
            <a:r>
              <a:rPr sz="1600"/>
              <a:t>No Inngest in Phase 1. Quality-signal aggregation is a Vercel cron job (1 per day).</a:t>
            </a:r>
          </a:p>
          <a:p>
            <a:pPr/>
            <a:r>
              <a:rPr sz="1600"/>
              <a:t>No SSO in Phase 1 (Clerk magic-link is enough for early B2B pilots).</a:t>
            </a:r>
          </a:p>
          <a:p>
            <a:pPr/>
            <a:r>
              <a:rPr sz="1600"/>
              <a:t>Stripe Payment Link only for pre-orders, not full subscription billing. Real billing in Phase 2.</a:t>
            </a:r>
          </a:p>
          <a:p>
            <a:pPr/>
            <a:r>
              <a:rPr sz="1600"/>
              <a:t>No SME role / two-eye gate in Phase 1. POC B2B = shared catalogs with B2C.</a:t>
            </a:r>
          </a:p>
          <a:p>
            <a:pPr/>
            <a:r>
              <a:rPr sz="1600"/>
              <a:t>No SOC2 — formal audit deferred until 5+ enterprise pipeline. Tenant isolation, audit log, soft-delete already designed in.</a:t>
            </a:r>
          </a:p>
          <a:p>
            <a:pPr>
              <a:spcAft>
                <a:spcPts val="600"/>
              </a:spcAft>
            </a:pPr>
            <a:r>
              <a:rPr sz="1600"/>
              <a:t>No cross-vendor critic — Opus-on-Sonnet at v1; cross-vendor becomes a v2 escape hatch on first quality incident.</a:t>
            </a:r>
          </a:p>
          <a:p>
            <a:pPr algn="l">
              <a:spcAft>
                <a:spcPts val="800"/>
              </a:spcAft>
            </a:pPr>
            <a:r>
              <a:rPr sz="1800"/>
              <a:t>These are documented in §C12 of the plan as "what we deliberately did not do."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Cadence &amp; decision rights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/>
              <a:t>Founder/operator owns product priorities, customer convos, content authoring (in Phase 1 they're the SME).</a:t>
            </a:r>
          </a:p>
          <a:p>
            <a:pPr/>
            <a:r>
              <a:rPr sz="1600"/>
              <a:t>Engineer/collaborator owns architecture, code review gate, test gate, performance budgets.</a:t>
            </a:r>
          </a:p>
          <a:p>
            <a:pPr/>
            <a:r>
              <a:rPr sz="1600"/>
              <a:t>External review: every PR goes through a codex (gpt-5.5 with multi-vendor fallback) review workflow that posts a labeled comment. codex-blockers label = don't merge until addressed.</a:t>
            </a:r>
          </a:p>
          <a:p>
            <a:pPr/>
            <a:r>
              <a:rPr sz="1600"/>
              <a:t>Async-first. Sync is for unblocking, not status.</a:t>
            </a:r>
          </a:p>
          <a:p>
            <a:pPr>
              <a:spcAft>
                <a:spcPts val="600"/>
              </a:spcAft>
            </a:pPr>
            <a:r>
              <a:rPr sz="1600"/>
              <a:t>No standups. PR descriptions and the codex review serve as the audit trail.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What we're looking for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/>
              <a:t>Senior full-stack — comfortable with TS, Postgres, Next.js App Router.</a:t>
            </a:r>
          </a:p>
          <a:p>
            <a:pPr/>
            <a:r>
              <a:rPr sz="1600"/>
              <a:t>Opinionated about LLM evaluation and prompt engineering — not "let's prompt-tune" but "let's design the eval suite first".</a:t>
            </a:r>
          </a:p>
          <a:p>
            <a:pPr/>
            <a:r>
              <a:rPr sz="1600"/>
              <a:t>Comfortable with shipping a paid product before adding hires (this isn't a fund-the-team situation).</a:t>
            </a:r>
          </a:p>
          <a:p>
            <a:pPr/>
            <a:r>
              <a:rPr sz="1600"/>
              <a:t>Bias for shipping over architecting; suspicious of premature abstraction.</a:t>
            </a:r>
          </a:p>
          <a:p>
            <a:pPr>
              <a:spcAft>
                <a:spcPts val="600"/>
              </a:spcAft>
            </a:pPr>
            <a:r>
              <a:rPr sz="1600"/>
              <a:t>Either a co-founder shape (equity-heavy, unpaid until revenue) or a first-hire shape (cash + small equity once Phase 1 hits the gate).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What we are NOT looking for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/>
              <a:t>Someone who wants to refactor before shipping.</a:t>
            </a:r>
          </a:p>
          <a:p>
            <a:pPr/>
            <a:r>
              <a:rPr sz="1600"/>
              <a:t>Someone who wants to use this as their first AI/LLM project (we need pattern-recognition, not learning-on-the-job here).</a:t>
            </a:r>
          </a:p>
          <a:p>
            <a:pPr/>
            <a:r>
              <a:rPr sz="1600"/>
              <a:t>Someone who needs a salary in month 1 — Phase 1 has no revenue and no fundraising.</a:t>
            </a:r>
          </a:p>
          <a:p>
            <a:pPr>
              <a:spcAft>
                <a:spcPts val="600"/>
              </a:spcAft>
            </a:pPr>
            <a:r>
              <a:rPr sz="1600"/>
              <a:t>Someone who wants to add another framework / language / orchestration layer to the stack.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Next step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If this looks interesting:</a:t>
            </a:r>
          </a:p>
          <a:p>
            <a:pPr/>
            <a:r>
              <a:rPr sz="1600"/>
              <a:t>Read the detailed plan (./content-pack-management-plan.md) — focus on §C2, §C5, §C7, §C12.</a:t>
            </a:r>
          </a:p>
          <a:p>
            <a:pPr/>
            <a:r>
              <a:rPr sz="1600"/>
              <a:t>30-minute call to talk about your projects + your read on this plan + what you'd change. No commitment from either side.</a:t>
            </a:r>
          </a:p>
          <a:p>
            <a:pPr>
              <a:spcAft>
                <a:spcPts val="600"/>
              </a:spcAft>
            </a:pPr>
            <a:r>
              <a:rPr sz="1600"/>
              <a:t>If we click, we agree on a Phase 1 scope you'd own (probably one of P1, P3, or P4).</a:t>
            </a:r>
          </a:p>
          <a:p>
            <a:pPr algn="l">
              <a:spcAft>
                <a:spcPts val="800"/>
              </a:spcAft>
            </a:pPr>
            <a:r>
              <a:rPr sz="1800"/>
              <a:t>Contact: [operator email] • [scheduling link]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In one sentence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i="1">
                <a:solidFill>
                  <a:srgbClr val="4A4A6E"/>
                </a:solidFill>
              </a:rPr>
              <a:t>We've got a quality-loop architecture that solves the AI-content trust problem, a real validator library already in production use, and a discipline of not building the expensive part until paying intent is signed — and we're looking for one strong technical partner who'll help ship Phase 1.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