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3400" b="1">
                <a:solidFill>
                  <a:srgbClr val="1A1A2E"/>
                </a:solidFill>
              </a:rPr>
              <a:t>Content Pack Management Platform — Investor / Advisor Brief</a:t>
            </a:r>
          </a:p>
        </p:txBody>
      </p:sp>
      <p:sp>
        <p:nvSpPr>
          <p:cNvPr id="3" name="TextBox 2"/>
          <p:cNvSpPr txBox="1"/>
          <p:nvPr/>
        </p:nvSpPr>
        <p:spPr>
          <a:xfrm>
            <a:off x="457200" y="1463040"/>
            <a:ext cx="11247120" cy="5120640"/>
          </a:xfrm>
          <a:prstGeom prst="rect">
            <a:avLst/>
          </a:prstGeom>
          <a:noFill/>
        </p:spPr>
        <p:txBody>
          <a:bodyPr wrap="square">
            <a:spAutoFit/>
          </a:bodyPr>
          <a:lstStyle/>
          <a:p>
            <a:pPr>
              <a:spcAft>
                <a:spcPts val="600"/>
              </a:spcAft>
            </a:pPr>
            <a:r>
              <a:rPr sz="1800" i="1">
                <a:solidFill>
                  <a:srgbClr val="4A4A6E"/>
                </a:solidFill>
              </a:rPr>
              <a:t>Slide-style brief for someone evaluating this as a venture-shaped business: angel investor, advisor, or experienced founder. Answers "is this a real business?", not "how does it work technically?". Slide breaks are marked by ---.
Companion docs: ./content-pack-management-plan.md, ./deck-overview.md, ./deck-b2b-prospect.md, ./deck-collaborator.md.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Content Pack Management Platform</a:t>
            </a:r>
          </a:p>
        </p:txBody>
      </p:sp>
      <p:sp>
        <p:nvSpPr>
          <p:cNvPr id="3" name="TextBox 2"/>
          <p:cNvSpPr txBox="1"/>
          <p:nvPr/>
        </p:nvSpPr>
        <p:spPr>
          <a:xfrm>
            <a:off x="457200" y="1280160"/>
            <a:ext cx="11247120" cy="5303520"/>
          </a:xfrm>
          <a:prstGeom prst="rect">
            <a:avLst/>
          </a:prstGeom>
          <a:noFill/>
        </p:spPr>
        <p:txBody>
          <a:bodyPr wrap="square">
            <a:spAutoFit/>
          </a:bodyPr>
          <a:lstStyle/>
          <a:p>
            <a:pPr algn="l">
              <a:spcAft>
                <a:spcPts val="800"/>
              </a:spcAft>
            </a:pPr>
            <a:r>
              <a:rPr sz="1800"/>
              <a:t>A capital-efficient path to a vertical learning platform. Validated revenue intent before any AI cost is spent.</a:t>
            </a:r>
          </a:p>
          <a:p>
            <a:pPr algn="l">
              <a:spcAft>
                <a:spcPts val="800"/>
              </a:spcAft>
            </a:pPr>
            <a:r>
              <a:rPr sz="1800"/>
              <a:t>Stage: pre-launch • Operator: solo, hands-on • Built on existing CCA-F study repo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The wedge</a:t>
            </a:r>
          </a:p>
        </p:txBody>
      </p:sp>
      <p:sp>
        <p:nvSpPr>
          <p:cNvPr id="3" name="TextBox 2"/>
          <p:cNvSpPr txBox="1"/>
          <p:nvPr/>
        </p:nvSpPr>
        <p:spPr>
          <a:xfrm>
            <a:off x="457200" y="1280160"/>
            <a:ext cx="11247120" cy="5303520"/>
          </a:xfrm>
          <a:prstGeom prst="rect">
            <a:avLst/>
          </a:prstGeom>
          <a:noFill/>
        </p:spPr>
        <p:txBody>
          <a:bodyPr wrap="square">
            <a:spAutoFit/>
          </a:bodyPr>
          <a:lstStyle/>
          <a:p>
            <a:pPr/>
            <a:r>
              <a:rPr sz="1600"/>
              <a:t>AI-generated learning content is everywhere — and most of it is bad enough to actively erode trust.</a:t>
            </a:r>
          </a:p>
          <a:p>
            <a:pPr/>
            <a:r>
              <a:rPr sz="1600"/>
              <a:t>Common failure modes are predictable: biased answer keys, fabricated facts, weak distractors, no source citation, mid-quiz spoilers.</a:t>
            </a:r>
          </a:p>
          <a:p>
            <a:pPr/>
            <a:r>
              <a:rPr sz="1600"/>
              <a:t>Buyers don't want raw model output. They want a quality story wrapped around it.</a:t>
            </a:r>
          </a:p>
          <a:p>
            <a:pPr>
              <a:spcAft>
                <a:spcPts val="600"/>
              </a:spcAft>
            </a:pPr>
            <a:r>
              <a:rPr sz="1600"/>
              <a:t>Whoever ships the quality story first owns the category.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Why now</a:t>
            </a:r>
          </a:p>
        </p:txBody>
      </p:sp>
      <p:sp>
        <p:nvSpPr>
          <p:cNvPr id="3" name="TextBox 2"/>
          <p:cNvSpPr txBox="1"/>
          <p:nvPr/>
        </p:nvSpPr>
        <p:spPr>
          <a:xfrm>
            <a:off x="457200" y="1280160"/>
            <a:ext cx="11247120" cy="5303520"/>
          </a:xfrm>
          <a:prstGeom prst="rect">
            <a:avLst/>
          </a:prstGeom>
          <a:noFill/>
        </p:spPr>
        <p:txBody>
          <a:bodyPr wrap="square">
            <a:spAutoFit/>
          </a:bodyPr>
          <a:lstStyle/>
          <a:p>
            <a:pPr algn="l">
              <a:spcAft>
                <a:spcPts val="800"/>
              </a:spcAft>
            </a:pPr>
            <a:r>
              <a:rPr sz="1800"/>
              <a:t>Three lines of evidence converge in 2026:</a:t>
            </a:r>
          </a:p>
          <a:p>
            <a:pPr/>
            <a:r>
              <a:rPr sz="1600"/>
              <a:t>Model capability — Claude 4.x and GPT-5.x finally generate lessons that pass deterministic quality checks &gt; 80% of the time, not 30%. Two years ago this didn't work.</a:t>
            </a:r>
          </a:p>
          <a:p>
            <a:pPr/>
            <a:r>
              <a:rPr sz="1600"/>
              <a:t>Buyer fatigue — enterprises have run their first ChatGPT-as-LMS pilots. Most failed on quality / governance. They're now ready to pay for a managed solution.</a:t>
            </a:r>
          </a:p>
          <a:p>
            <a:pPr>
              <a:spcAft>
                <a:spcPts val="600"/>
              </a:spcAft>
            </a:pPr>
            <a:r>
              <a:rPr sz="1600"/>
              <a:t>Compliance friction — AI-content provenance and human-in-the-loop are becoming explicit procurement requirements (EU AI Act, internal AI policies). A product that has these baked in beats one that retrofits them.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The product, one paragraph</a:t>
            </a:r>
          </a:p>
        </p:txBody>
      </p:sp>
      <p:sp>
        <p:nvSpPr>
          <p:cNvPr id="3" name="TextBox 2"/>
          <p:cNvSpPr txBox="1"/>
          <p:nvPr/>
        </p:nvSpPr>
        <p:spPr>
          <a:xfrm>
            <a:off x="457200" y="1280160"/>
            <a:ext cx="11247120" cy="5303520"/>
          </a:xfrm>
          <a:prstGeom prst="rect">
            <a:avLst/>
          </a:prstGeom>
          <a:noFill/>
        </p:spPr>
        <p:txBody>
          <a:bodyPr wrap="square">
            <a:spAutoFit/>
          </a:bodyPr>
          <a:lstStyle/>
          <a:p>
            <a:pPr algn="l">
              <a:spcAft>
                <a:spcPts val="800"/>
              </a:spcAft>
            </a:pPr>
            <a:r>
              <a:rPr sz="1800"/>
              <a:t>A learning platform with B2C and B2B tiers, where AI drafts content from operator-supplied knowledge files, deterministic validators catch a documented set of failure modes, a stronger reviewer model audits the drafter, and a human always approves before publish. Buyers get curated catalogs and the option to request topics; the platform learns from those requests.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Two markets, same product</a:t>
            </a:r>
          </a:p>
        </p:txBody>
      </p:sp>
      <p:sp>
        <p:nvSpPr>
          <p:cNvPr id="3" name="TextBox 2"/>
          <p:cNvSpPr txBox="1"/>
          <p:nvPr/>
        </p:nvSpPr>
        <p:spPr>
          <a:xfrm>
            <a:off x="457200" y="1280160"/>
            <a:ext cx="11247120" cy="5303520"/>
          </a:xfrm>
          <a:prstGeom prst="rect">
            <a:avLst/>
          </a:prstGeom>
          <a:noFill/>
        </p:spPr>
        <p:txBody>
          <a:bodyPr wrap="square">
            <a:spAutoFit/>
          </a:bodyPr>
          <a:lstStyle/>
          <a:p/>
        </p:txBody>
      </p:sp>
      <p:graphicFrame>
        <p:nvGraphicFramePr>
          <p:cNvPr id="4" name="Table 3"/>
          <p:cNvGraphicFramePr>
            <a:graphicFrameLocks noGrp="1"/>
          </p:cNvGraphicFramePr>
          <p:nvPr/>
        </p:nvGraphicFramePr>
        <p:xfrm>
          <a:off x="457200" y="1828800"/>
          <a:ext cx="11247120" cy="2057400"/>
        </p:xfrm>
        <a:graphic>
          <a:graphicData uri="http://schemas.openxmlformats.org/drawingml/2006/table">
            <a:tbl>
              <a:tblPr firstRow="1" bandRow="1">
                <a:tableStyleId>{5C22544A-7EE6-4342-B048-85BDC9FD1C3A}</a:tableStyleId>
              </a:tblPr>
              <a:tblGrid>
                <a:gridCol w="3749040"/>
                <a:gridCol w="3749040"/>
                <a:gridCol w="3749040"/>
              </a:tblGrid>
              <a:tr h="411480">
                <a:tc>
                  <a:txBody>
                    <a:bodyPr/>
                    <a:lstStyle/>
                    <a:p/>
                  </a:txBody>
                  <a:tcPr>
                    <a:solidFill>
                      <a:srgbClr val="1A1A2E"/>
                    </a:solidFill>
                  </a:tcPr>
                </a:tc>
                <a:tc>
                  <a:txBody>
                    <a:bodyPr/>
                    <a:lstStyle/>
                    <a:p>
                      <a:r>
                        <a:rPr sz="1100" b="1">
                          <a:solidFill>
                            <a:srgbClr val="FFFFFF"/>
                          </a:solidFill>
                        </a:rPr>
                        <a:t>B2C</a:t>
                      </a:r>
                    </a:p>
                  </a:txBody>
                  <a:tcPr>
                    <a:solidFill>
                      <a:srgbClr val="1A1A2E"/>
                    </a:solidFill>
                  </a:tcPr>
                </a:tc>
                <a:tc>
                  <a:txBody>
                    <a:bodyPr/>
                    <a:lstStyle/>
                    <a:p>
                      <a:r>
                        <a:rPr sz="1100" b="1">
                          <a:solidFill>
                            <a:srgbClr val="FFFFFF"/>
                          </a:solidFill>
                        </a:rPr>
                        <a:t>B2B</a:t>
                      </a:r>
                    </a:p>
                  </a:txBody>
                  <a:tcPr>
                    <a:solidFill>
                      <a:srgbClr val="1A1A2E"/>
                    </a:solidFill>
                  </a:tcPr>
                </a:tc>
              </a:tr>
              <a:tr h="411480">
                <a:tc>
                  <a:txBody>
                    <a:bodyPr/>
                    <a:lstStyle/>
                    <a:p>
                      <a:r>
                        <a:rPr sz="1100"/>
                        <a:t>Who</a:t>
                      </a:r>
                    </a:p>
                  </a:txBody>
                  <a:tcPr/>
                </a:tc>
                <a:tc>
                  <a:txBody>
                    <a:bodyPr/>
                    <a:lstStyle/>
                    <a:p>
                      <a:r>
                        <a:rPr sz="1100"/>
                        <a:t>Self-directed learners (cert candidates, hobbyists)</a:t>
                      </a:r>
                    </a:p>
                  </a:txBody>
                  <a:tcPr/>
                </a:tc>
                <a:tc>
                  <a:txBody>
                    <a:bodyPr/>
                    <a:lstStyle/>
                    <a:p>
                      <a:r>
                        <a:rPr sz="1100"/>
                        <a:t>SMB and mid-market HR / L&amp;D</a:t>
                      </a:r>
                    </a:p>
                  </a:txBody>
                  <a:tcPr/>
                </a:tc>
              </a:tr>
              <a:tr h="411480">
                <a:tc>
                  <a:txBody>
                    <a:bodyPr/>
                    <a:lstStyle/>
                    <a:p>
                      <a:r>
                        <a:rPr sz="1100"/>
                        <a:t>Pricing</a:t>
                      </a:r>
                    </a:p>
                  </a:txBody>
                  <a:tcPr/>
                </a:tc>
                <a:tc>
                  <a:txBody>
                    <a:bodyPr/>
                    <a:lstStyle/>
                    <a:p>
                      <a:r>
                        <a:rPr sz="1100"/>
                        <a:t>$9/mo Pro on top of free tier</a:t>
                      </a:r>
                    </a:p>
                  </a:txBody>
                  <a:tcPr/>
                </a:tc>
                <a:tc>
                  <a:txBody>
                    <a:bodyPr/>
                    <a:lstStyle/>
                    <a:p>
                      <a:r>
                        <a:rPr sz="1100"/>
                        <a:t>$5–15 per learner per month, $100/mo platform minimum</a:t>
                      </a:r>
                    </a:p>
                  </a:txBody>
                  <a:tcPr/>
                </a:tc>
              </a:tr>
              <a:tr h="411480">
                <a:tc>
                  <a:txBody>
                    <a:bodyPr/>
                    <a:lstStyle/>
                    <a:p>
                      <a:r>
                        <a:rPr sz="1100"/>
                        <a:t>Why they pay</a:t>
                      </a:r>
                    </a:p>
                  </a:txBody>
                  <a:tcPr/>
                </a:tc>
                <a:tc>
                  <a:txBody>
                    <a:bodyPr/>
                    <a:lstStyle/>
                    <a:p>
                      <a:r>
                        <a:rPr sz="1100"/>
                        <a:t>Topic-on-demand, quizzes that aren't trash</a:t>
                      </a:r>
                    </a:p>
                  </a:txBody>
                  <a:tcPr/>
                </a:tc>
                <a:tc>
                  <a:txBody>
                    <a:bodyPr/>
                    <a:lstStyle/>
                    <a:p>
                      <a:r>
                        <a:rPr sz="1100"/>
                        <a:t>SME-reviewed material, SSO, lower TCO than custom-build</a:t>
                      </a:r>
                    </a:p>
                  </a:txBody>
                  <a:tcPr/>
                </a:tc>
              </a:tr>
              <a:tr h="411480">
                <a:tc>
                  <a:txBody>
                    <a:bodyPr/>
                    <a:lstStyle/>
                    <a:p>
                      <a:r>
                        <a:rPr sz="1100"/>
                        <a:t>CAC channel</a:t>
                      </a:r>
                    </a:p>
                  </a:txBody>
                  <a:tcPr/>
                </a:tc>
                <a:tc>
                  <a:txBody>
                    <a:bodyPr/>
                    <a:lstStyle/>
                    <a:p>
                      <a:r>
                        <a:rPr sz="1100"/>
                        <a:t>SEO + content marketing</a:t>
                      </a:r>
                    </a:p>
                  </a:txBody>
                  <a:tcPr/>
                </a:tc>
                <a:tc>
                  <a:txBody>
                    <a:bodyPr/>
                    <a:lstStyle/>
                    <a:p>
                      <a:r>
                        <a:rPr sz="1100"/>
                        <a:t>Outbound + warm intros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Market size (rough)</a:t>
            </a:r>
          </a:p>
        </p:txBody>
      </p:sp>
      <p:sp>
        <p:nvSpPr>
          <p:cNvPr id="3" name="TextBox 2"/>
          <p:cNvSpPr txBox="1"/>
          <p:nvPr/>
        </p:nvSpPr>
        <p:spPr>
          <a:xfrm>
            <a:off x="457200" y="1280160"/>
            <a:ext cx="11247120" cy="5303520"/>
          </a:xfrm>
          <a:prstGeom prst="rect">
            <a:avLst/>
          </a:prstGeom>
          <a:noFill/>
        </p:spPr>
        <p:txBody>
          <a:bodyPr wrap="square">
            <a:spAutoFit/>
          </a:bodyPr>
          <a:lstStyle/>
          <a:p>
            <a:pPr/>
            <a:r>
              <a:rPr sz="1600"/>
              <a:t>TAM: global L&amp;D spend ~$370B/year.</a:t>
            </a:r>
          </a:p>
          <a:p>
            <a:pPr/>
            <a:r>
              <a:rPr sz="1600"/>
              <a:t>SAM: online certification + corporate compliance/onboarding ~$50B/year.</a:t>
            </a:r>
          </a:p>
          <a:p>
            <a:pPr>
              <a:spcAft>
                <a:spcPts val="600"/>
              </a:spcAft>
            </a:pPr>
            <a:r>
              <a:rPr sz="1600"/>
              <a:t>SOM (5-year): $50M–$500M slice of vertical-specific learning where off-the-shelf LMSs lose to topic-on-demand.</a:t>
            </a:r>
          </a:p>
          <a:p>
            <a:pPr algn="l">
              <a:spcAft>
                <a:spcPts val="800"/>
              </a:spcAft>
            </a:pPr>
            <a:r>
              <a:rPr sz="1800"/>
              <a:t>We don't need to win the whole market. A 0.05% share of SAM = $25M ARR.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Business model &amp; unit economics</a:t>
            </a:r>
          </a:p>
        </p:txBody>
      </p:sp>
      <p:sp>
        <p:nvSpPr>
          <p:cNvPr id="3" name="TextBox 2"/>
          <p:cNvSpPr txBox="1"/>
          <p:nvPr/>
        </p:nvSpPr>
        <p:spPr>
          <a:xfrm>
            <a:off x="457200" y="1280160"/>
            <a:ext cx="11247120" cy="5303520"/>
          </a:xfrm>
          <a:prstGeom prst="rect">
            <a:avLst/>
          </a:prstGeom>
          <a:noFill/>
        </p:spPr>
        <p:txBody>
          <a:bodyPr wrap="square">
            <a:spAutoFit/>
          </a:bodyPr>
          <a:lstStyle/>
          <a:p>
            <a:pPr/>
            <a:r>
              <a:rPr sz="1600"/>
              <a:t>Gross margin: &gt; 95% at modest scale (combined ~$34k MRR vs ~$600/mo infra + AI).</a:t>
            </a:r>
          </a:p>
          <a:p>
            <a:pPr/>
            <a:r>
              <a:rPr sz="1600"/>
              <a:t>AI cost line scales with generations, not learners — the safety belt is per-tenant monthly token budgets, server-enforced.</a:t>
            </a:r>
          </a:p>
          <a:p>
            <a:pPr/>
            <a:r>
              <a:rPr sz="1600"/>
              <a:t>CAC payback: B2C ~3 months at $9/mo and ~$25 CAC; B2B varies by deal size, target &lt; 12 months.</a:t>
            </a:r>
          </a:p>
          <a:p>
            <a:pPr>
              <a:spcAft>
                <a:spcPts val="600"/>
              </a:spcAft>
            </a:pPr>
            <a:r>
              <a:rPr sz="1600"/>
              <a:t>NRR target: Year 1 ≥ 110% (median+, SaaS Capital 2025 benchmark);</a:t>
            </a:r>
          </a:p>
          <a:p>
            <a:pPr algn="l">
              <a:spcAft>
                <a:spcPts val="800"/>
              </a:spcAft>
            </a:pPr>
            <a:r>
              <a:rPr sz="1800"/>
              <a:t>Year 2 ≥ 120% (top-quartile). The pedagogical moat (LM1–LM8) is also the expansion-revenue moat — cohort outcomes drive seat-expansion and multi-pack adoption.</a:t>
            </a:r>
          </a:p>
          <a:p>
            <a:pPr>
              <a:spcAft>
                <a:spcPts val="600"/>
              </a:spcAft>
            </a:pPr>
            <a:r>
              <a:rPr sz="1600"/>
              <a:t>No data sales, no third-party advertising. Revenue = subscriptions only.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The capital-efficient strategy</a:t>
            </a:r>
          </a:p>
        </p:txBody>
      </p:sp>
      <p:sp>
        <p:nvSpPr>
          <p:cNvPr id="3" name="TextBox 2"/>
          <p:cNvSpPr txBox="1"/>
          <p:nvPr/>
        </p:nvSpPr>
        <p:spPr>
          <a:xfrm>
            <a:off x="457200" y="1280160"/>
            <a:ext cx="11247120" cy="5303520"/>
          </a:xfrm>
          <a:prstGeom prst="rect">
            <a:avLst/>
          </a:prstGeom>
          <a:noFill/>
        </p:spPr>
        <p:txBody>
          <a:bodyPr wrap="square">
            <a:spAutoFit/>
          </a:bodyPr>
          <a:lstStyle/>
          <a:p>
            <a:pPr algn="l">
              <a:spcAft>
                <a:spcPts val="800"/>
              </a:spcAft>
            </a:pPr>
            <a:r>
              <a:rPr sz="1800"/>
              <a:t>The key strategic move: separate the validation phase from the AI-cost phase.</a:t>
            </a:r>
          </a:p>
          <a:p>
            <a:pPr/>
            <a:r>
              <a:rPr sz="1600"/>
              <a:t>Phase 1 (POC, ~$0/mo): AI authoring done by the operator's local Claude Code (paid by existing Max 20x subscription). Web platform is delivery + admin only. No Anthropic API spend.</a:t>
            </a:r>
          </a:p>
          <a:p>
            <a:pPr>
              <a:spcAft>
                <a:spcPts val="600"/>
              </a:spcAft>
            </a:pPr>
            <a:r>
              <a:rPr sz="1600"/>
              <a:t>Phase 2 (Commercial, ~$450–1000/mo): Turn on in-app AI generation only after Phase 1 has produced paying intent.</a:t>
            </a:r>
          </a:p>
          <a:p>
            <a:pPr algn="l">
              <a:spcAft>
                <a:spcPts val="800"/>
              </a:spcAft>
            </a:pPr>
            <a:r>
              <a:rPr sz="1800"/>
              <a:t>This sidesteps the typical SaaS-AI failure mode: spending $50k+ on inference before knowing what people will pay.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Phase 1 success metric — the gate to Phase 2</a:t>
            </a:r>
          </a:p>
        </p:txBody>
      </p:sp>
      <p:sp>
        <p:nvSpPr>
          <p:cNvPr id="3" name="TextBox 2"/>
          <p:cNvSpPr txBox="1"/>
          <p:nvPr/>
        </p:nvSpPr>
        <p:spPr>
          <a:xfrm>
            <a:off x="457200" y="1280160"/>
            <a:ext cx="11247120" cy="5303520"/>
          </a:xfrm>
          <a:prstGeom prst="rect">
            <a:avLst/>
          </a:prstGeom>
          <a:noFill/>
        </p:spPr>
        <p:txBody>
          <a:bodyPr wrap="square">
            <a:spAutoFit/>
          </a:bodyPr>
          <a:lstStyle/>
          <a:p>
            <a:pPr algn="l">
              <a:spcAft>
                <a:spcPts val="800"/>
              </a:spcAft>
            </a:pPr>
            <a:r>
              <a:rPr sz="1800"/>
              <a:t>Paying intent, measured directly:</a:t>
            </a:r>
          </a:p>
          <a:p>
            <a:pPr/>
            <a:r>
              <a:rPr sz="1600"/>
              <a:t>B2B target: 3 signed Letters of Intent.</a:t>
            </a:r>
          </a:p>
          <a:p>
            <a:pPr>
              <a:spcAft>
                <a:spcPts val="600"/>
              </a:spcAft>
            </a:pPr>
            <a:r>
              <a:rPr sz="1600"/>
              <a:t>B2C target: 50 waitlist signups + 10 refundable Stripe pre-orders ($9 each).</a:t>
            </a:r>
          </a:p>
          <a:p>
            <a:pPr algn="l">
              <a:spcAft>
                <a:spcPts val="800"/>
              </a:spcAft>
            </a:pPr>
            <a:r>
              <a:rPr sz="1800"/>
              <a:t>If Phase 1 doesn't hit these targets, Phase 2 doesn't get built. Hard gate.</a:t>
            </a:r>
          </a:p>
          <a:p>
            <a:pPr algn="l">
              <a:spcAft>
                <a:spcPts val="800"/>
              </a:spcAft>
            </a:pPr>
            <a:r>
              <a:rPr sz="1800"/>
              <a:t>This is the single most important slide in the deck. The discipline of not building the expensive part until paying intent is signed lives or dies on this gate being respected.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Cost curve</a:t>
            </a:r>
          </a:p>
        </p:txBody>
      </p:sp>
      <p:sp>
        <p:nvSpPr>
          <p:cNvPr id="3" name="TextBox 2"/>
          <p:cNvSpPr txBox="1"/>
          <p:nvPr/>
        </p:nvSpPr>
        <p:spPr>
          <a:xfrm>
            <a:off x="457200" y="1280160"/>
            <a:ext cx="11247120" cy="5303520"/>
          </a:xfrm>
          <a:prstGeom prst="rect">
            <a:avLst/>
          </a:prstGeom>
          <a:noFill/>
        </p:spPr>
        <p:txBody>
          <a:bodyPr wrap="square">
            <a:spAutoFit/>
          </a:bodyPr>
          <a:lstStyle/>
          <a:p>
            <a:pPr algn="l">
              <a:spcAft>
                <a:spcPts val="800"/>
              </a:spcAft>
            </a:pPr>
            <a:r>
              <a:rPr sz="1800"/>
              <a:t>The graph is essentially flat-zero, then a step to ~$500, then linear-with-revenue.</a:t>
            </a:r>
          </a:p>
        </p:txBody>
      </p:sp>
      <p:graphicFrame>
        <p:nvGraphicFramePr>
          <p:cNvPr id="4" name="Table 3"/>
          <p:cNvGraphicFramePr>
            <a:graphicFrameLocks noGrp="1"/>
          </p:cNvGraphicFramePr>
          <p:nvPr/>
        </p:nvGraphicFramePr>
        <p:xfrm>
          <a:off x="457200" y="1828800"/>
          <a:ext cx="11247120" cy="1645920"/>
        </p:xfrm>
        <a:graphic>
          <a:graphicData uri="http://schemas.openxmlformats.org/drawingml/2006/table">
            <a:tbl>
              <a:tblPr firstRow="1" bandRow="1">
                <a:tableStyleId>{5C22544A-7EE6-4342-B048-85BDC9FD1C3A}</a:tableStyleId>
              </a:tblPr>
              <a:tblGrid>
                <a:gridCol w="3749040"/>
                <a:gridCol w="3749040"/>
                <a:gridCol w="3749040"/>
              </a:tblGrid>
              <a:tr h="411480">
                <a:tc>
                  <a:txBody>
                    <a:bodyPr/>
                    <a:lstStyle/>
                    <a:p>
                      <a:r>
                        <a:rPr sz="1100" b="1">
                          <a:solidFill>
                            <a:srgbClr val="FFFFFF"/>
                          </a:solidFill>
                        </a:rPr>
                        <a:t>Phase</a:t>
                      </a:r>
                    </a:p>
                  </a:txBody>
                  <a:tcPr>
                    <a:solidFill>
                      <a:srgbClr val="1A1A2E"/>
                    </a:solidFill>
                  </a:tcPr>
                </a:tc>
                <a:tc>
                  <a:txBody>
                    <a:bodyPr/>
                    <a:lstStyle/>
                    <a:p>
                      <a:r>
                        <a:rPr sz="1100" b="1">
                          <a:solidFill>
                            <a:srgbClr val="FFFFFF"/>
                          </a:solidFill>
                        </a:rPr>
                        <a:t>Monthly burn</a:t>
                      </a:r>
                    </a:p>
                  </a:txBody>
                  <a:tcPr>
                    <a:solidFill>
                      <a:srgbClr val="1A1A2E"/>
                    </a:solidFill>
                  </a:tcPr>
                </a:tc>
                <a:tc>
                  <a:txBody>
                    <a:bodyPr/>
                    <a:lstStyle/>
                    <a:p>
                      <a:r>
                        <a:rPr sz="1100" b="1">
                          <a:solidFill>
                            <a:srgbClr val="FFFFFF"/>
                          </a:solidFill>
                        </a:rPr>
                        <a:t>Months to ROI</a:t>
                      </a:r>
                    </a:p>
                  </a:txBody>
                  <a:tcPr>
                    <a:solidFill>
                      <a:srgbClr val="1A1A2E"/>
                    </a:solidFill>
                  </a:tcPr>
                </a:tc>
              </a:tr>
              <a:tr h="411480">
                <a:tc>
                  <a:txBody>
                    <a:bodyPr/>
                    <a:lstStyle/>
                    <a:p>
                      <a:r>
                        <a:rPr sz="1100"/>
                        <a:t>Phase 1 (POC)</a:t>
                      </a:r>
                    </a:p>
                  </a:txBody>
                  <a:tcPr/>
                </a:tc>
                <a:tc>
                  <a:txBody>
                    <a:bodyPr/>
                    <a:lstStyle/>
                    <a:p>
                      <a:r>
                        <a:rPr sz="1100"/>
                        <a:t>~$1</a:t>
                      </a:r>
                    </a:p>
                  </a:txBody>
                  <a:tcPr/>
                </a:tc>
                <a:tc>
                  <a:txBody>
                    <a:bodyPr/>
                    <a:lstStyle/>
                    <a:p>
                      <a:r>
                        <a:rPr sz="1100"/>
                        <a:t>N/A — no spend to recover</a:t>
                      </a:r>
                    </a:p>
                  </a:txBody>
                  <a:tcPr/>
                </a:tc>
              </a:tr>
              <a:tr h="411480">
                <a:tc>
                  <a:txBody>
                    <a:bodyPr/>
                    <a:lstStyle/>
                    <a:p>
                      <a:r>
                        <a:rPr sz="1100"/>
                        <a:t>Phase 2 launch</a:t>
                      </a:r>
                    </a:p>
                  </a:txBody>
                  <a:tcPr/>
                </a:tc>
                <a:tc>
                  <a:txBody>
                    <a:bodyPr/>
                    <a:lstStyle/>
                    <a:p>
                      <a:r>
                        <a:rPr sz="1100"/>
                        <a:t>~$450</a:t>
                      </a:r>
                    </a:p>
                  </a:txBody>
                  <a:tcPr/>
                </a:tc>
                <a:tc>
                  <a:txBody>
                    <a:bodyPr/>
                    <a:lstStyle/>
                    <a:p>
                      <a:r>
                        <a:rPr sz="1100"/>
                        <a:t>1–2 paying B2B tenants</a:t>
                      </a:r>
                    </a:p>
                  </a:txBody>
                  <a:tcPr/>
                </a:tc>
              </a:tr>
              <a:tr h="411480">
                <a:tc>
                  <a:txBody>
                    <a:bodyPr/>
                    <a:lstStyle/>
                    <a:p>
                      <a:r>
                        <a:rPr sz="1100"/>
                        <a:t>Phase 2 at 100 tenants</a:t>
                      </a:r>
                    </a:p>
                  </a:txBody>
                  <a:tcPr/>
                </a:tc>
                <a:tc>
                  <a:txBody>
                    <a:bodyPr/>
                    <a:lstStyle/>
                    <a:p>
                      <a:r>
                        <a:rPr sz="1100"/>
                        <a:t>~$1000</a:t>
                      </a:r>
                    </a:p>
                  </a:txBody>
                  <a:tcPr/>
                </a:tc>
                <a:tc>
                  <a:txBody>
                    <a:bodyPr/>
                    <a:lstStyle/>
                    <a:p>
                      <a:r>
                        <a:rPr sz="1100"/>
                        <a:t>&lt; 1 month at current pricing</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Competitive landscape</a:t>
            </a:r>
          </a:p>
        </p:txBody>
      </p:sp>
      <p:sp>
        <p:nvSpPr>
          <p:cNvPr id="3" name="TextBox 2"/>
          <p:cNvSpPr txBox="1"/>
          <p:nvPr/>
        </p:nvSpPr>
        <p:spPr>
          <a:xfrm>
            <a:off x="457200" y="1280160"/>
            <a:ext cx="11247120" cy="5303520"/>
          </a:xfrm>
          <a:prstGeom prst="rect">
            <a:avLst/>
          </a:prstGeom>
          <a:noFill/>
        </p:spPr>
        <p:txBody>
          <a:bodyPr wrap="square">
            <a:spAutoFit/>
          </a:bodyPr>
          <a:lstStyle/>
          <a:p/>
        </p:txBody>
      </p:sp>
      <p:graphicFrame>
        <p:nvGraphicFramePr>
          <p:cNvPr id="4" name="Table 3"/>
          <p:cNvGraphicFramePr>
            <a:graphicFrameLocks noGrp="1"/>
          </p:cNvGraphicFramePr>
          <p:nvPr/>
        </p:nvGraphicFramePr>
        <p:xfrm>
          <a:off x="457200" y="1828800"/>
          <a:ext cx="11247120" cy="2057400"/>
        </p:xfrm>
        <a:graphic>
          <a:graphicData uri="http://schemas.openxmlformats.org/drawingml/2006/table">
            <a:tbl>
              <a:tblPr firstRow="1" bandRow="1">
                <a:tableStyleId>{5C22544A-7EE6-4342-B048-85BDC9FD1C3A}</a:tableStyleId>
              </a:tblPr>
              <a:tblGrid>
                <a:gridCol w="3749040"/>
                <a:gridCol w="3749040"/>
                <a:gridCol w="3749040"/>
              </a:tblGrid>
              <a:tr h="411480">
                <a:tc>
                  <a:txBody>
                    <a:bodyPr/>
                    <a:lstStyle/>
                    <a:p>
                      <a:r>
                        <a:rPr sz="1100" b="1">
                          <a:solidFill>
                            <a:srgbClr val="FFFFFF"/>
                          </a:solidFill>
                        </a:rPr>
                        <a:t>Competitor</a:t>
                      </a:r>
                    </a:p>
                  </a:txBody>
                  <a:tcPr>
                    <a:solidFill>
                      <a:srgbClr val="1A1A2E"/>
                    </a:solidFill>
                  </a:tcPr>
                </a:tc>
                <a:tc>
                  <a:txBody>
                    <a:bodyPr/>
                    <a:lstStyle/>
                    <a:p>
                      <a:r>
                        <a:rPr sz="1100" b="1">
                          <a:solidFill>
                            <a:srgbClr val="FFFFFF"/>
                          </a:solidFill>
                        </a:rPr>
                        <a:t>Their angle</a:t>
                      </a:r>
                    </a:p>
                  </a:txBody>
                  <a:tcPr>
                    <a:solidFill>
                      <a:srgbClr val="1A1A2E"/>
                    </a:solidFill>
                  </a:tcPr>
                </a:tc>
                <a:tc>
                  <a:txBody>
                    <a:bodyPr/>
                    <a:lstStyle/>
                    <a:p>
                      <a:r>
                        <a:rPr sz="1100" b="1">
                          <a:solidFill>
                            <a:srgbClr val="FFFFFF"/>
                          </a:solidFill>
                        </a:rPr>
                        <a:t>Why we win</a:t>
                      </a:r>
                    </a:p>
                  </a:txBody>
                  <a:tcPr>
                    <a:solidFill>
                      <a:srgbClr val="1A1A2E"/>
                    </a:solidFill>
                  </a:tcPr>
                </a:tc>
              </a:tr>
              <a:tr h="411480">
                <a:tc>
                  <a:txBody>
                    <a:bodyPr/>
                    <a:lstStyle/>
                    <a:p>
                      <a:r>
                        <a:rPr sz="1100"/>
                        <a:t>Raw ChatGPT / Claude</a:t>
                      </a:r>
                    </a:p>
                  </a:txBody>
                  <a:tcPr/>
                </a:tc>
                <a:tc>
                  <a:txBody>
                    <a:bodyPr/>
                    <a:lstStyle/>
                    <a:p>
                      <a:r>
                        <a:rPr sz="1100"/>
                        <a:t>DIY, free</a:t>
                      </a:r>
                    </a:p>
                  </a:txBody>
                  <a:tcPr/>
                </a:tc>
                <a:tc>
                  <a:txBody>
                    <a:bodyPr/>
                    <a:lstStyle/>
                    <a:p>
                      <a:r>
                        <a:rPr sz="1100"/>
                        <a:t>We package validators, HITL, audit trail, RLS — buyers want managed</a:t>
                      </a:r>
                    </a:p>
                  </a:txBody>
                  <a:tcPr/>
                </a:tc>
              </a:tr>
              <a:tr h="411480">
                <a:tc>
                  <a:txBody>
                    <a:bodyPr/>
                    <a:lstStyle/>
                    <a:p>
                      <a:r>
                        <a:rPr sz="1100"/>
                        <a:t>Cornerstone, Litmos, Docebo</a:t>
                      </a:r>
                    </a:p>
                  </a:txBody>
                  <a:tcPr/>
                </a:tc>
                <a:tc>
                  <a:txBody>
                    <a:bodyPr/>
                    <a:lstStyle/>
                    <a:p>
                      <a:r>
                        <a:rPr sz="1100"/>
                        <a:t>Traditional LMS, curated catalog</a:t>
                      </a:r>
                    </a:p>
                  </a:txBody>
                  <a:tcPr/>
                </a:tc>
                <a:tc>
                  <a:txBody>
                    <a:bodyPr/>
                    <a:lstStyle/>
                    <a:p>
                      <a:r>
                        <a:rPr sz="1100"/>
                        <a:t>We let buyers request topics on-demand; AI-drafted, expert-reviewed</a:t>
                      </a:r>
                    </a:p>
                  </a:txBody>
                  <a:tcPr/>
                </a:tc>
              </a:tr>
              <a:tr h="411480">
                <a:tc>
                  <a:txBody>
                    <a:bodyPr/>
                    <a:lstStyle/>
                    <a:p>
                      <a:r>
                        <a:rPr sz="1100"/>
                        <a:t>Skilljar, Thinkific</a:t>
                      </a:r>
                    </a:p>
                  </a:txBody>
                  <a:tcPr/>
                </a:tc>
                <a:tc>
                  <a:txBody>
                    <a:bodyPr/>
                    <a:lstStyle/>
                    <a:p>
                      <a:r>
                        <a:rPr sz="1100"/>
                        <a:t>Author-and-publish platforms</a:t>
                      </a:r>
                    </a:p>
                  </a:txBody>
                  <a:tcPr/>
                </a:tc>
                <a:tc>
                  <a:txBody>
                    <a:bodyPr/>
                    <a:lstStyle/>
                    <a:p>
                      <a:r>
                        <a:rPr sz="1100"/>
                        <a:t>Same gap as LMSs — content is bring-your-own</a:t>
                      </a:r>
                    </a:p>
                  </a:txBody>
                  <a:tcPr/>
                </a:tc>
              </a:tr>
              <a:tr h="411480">
                <a:tc>
                  <a:txBody>
                    <a:bodyPr/>
                    <a:lstStyle/>
                    <a:p>
                      <a:r>
                        <a:rPr sz="1100"/>
                        <a:t>Hard-code-an-LMS-yourself startups</a:t>
                      </a:r>
                    </a:p>
                  </a:txBody>
                  <a:tcPr/>
                </a:tc>
                <a:tc>
                  <a:txBody>
                    <a:bodyPr/>
                    <a:lstStyle/>
                    <a:p>
                      <a:r>
                        <a:rPr sz="1100"/>
                        <a:t>Custom build per company</a:t>
                      </a:r>
                    </a:p>
                  </a:txBody>
                  <a:tcPr/>
                </a:tc>
                <a:tc>
                  <a:txBody>
                    <a:bodyPr/>
                    <a:lstStyle/>
                    <a:p>
                      <a:r>
                        <a:rPr sz="1100"/>
                        <a:t>$200k+ and 6 months; we offer 4 weeks and a pilot fee</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The moat</a:t>
            </a:r>
          </a:p>
        </p:txBody>
      </p:sp>
      <p:sp>
        <p:nvSpPr>
          <p:cNvPr id="3" name="TextBox 2"/>
          <p:cNvSpPr txBox="1"/>
          <p:nvPr/>
        </p:nvSpPr>
        <p:spPr>
          <a:xfrm>
            <a:off x="457200" y="1280160"/>
            <a:ext cx="11247120" cy="5303520"/>
          </a:xfrm>
          <a:prstGeom prst="rect">
            <a:avLst/>
          </a:prstGeom>
          <a:noFill/>
        </p:spPr>
        <p:txBody>
          <a:bodyPr wrap="square">
            <a:spAutoFit/>
          </a:bodyPr>
          <a:lstStyle/>
          <a:p>
            <a:pPr algn="l">
              <a:spcAft>
                <a:spcPts val="800"/>
              </a:spcAft>
            </a:pPr>
            <a:r>
              <a:rPr sz="1800"/>
              <a:t>Not the lessons. Not the AI model. The quality loop.</a:t>
            </a:r>
          </a:p>
          <a:p>
            <a:pPr/>
            <a:r>
              <a:rPr sz="1600"/>
              <a:t>23 documented AI-content failure modes (catalogued in our existing CCA-F study repo's 06-failure-analysis/error-log.md).</a:t>
            </a:r>
          </a:p>
          <a:p>
            <a:pPr/>
            <a:r>
              <a:rPr sz="1600"/>
              <a:t>F1–F12 cognitive failure-mode taxonomy already in production use (extended from F1–F8 to cover JOL miscalibration, transfer failure, fluency illusion, cue-bias).</a:t>
            </a:r>
          </a:p>
          <a:p>
            <a:pPr/>
            <a:r>
              <a:rPr sz="1600"/>
              <a:t>Deterministic validators that run vendor-independent — works against any LLM.</a:t>
            </a:r>
          </a:p>
          <a:p>
            <a:pPr/>
            <a:r>
              <a:rPr sz="1600"/>
              <a:t>Opus-critiques-Sonnet reviewer architecture catches systematic blind spots.</a:t>
            </a:r>
          </a:p>
          <a:p>
            <a:pPr>
              <a:spcAft>
                <a:spcPts val="600"/>
              </a:spcAft>
            </a:pPr>
            <a:r>
              <a:rPr sz="1600"/>
              <a:t>Pause-not-pull post-publish quality signals.</a:t>
            </a:r>
          </a:p>
          <a:p>
            <a:pPr algn="l">
              <a:spcAft>
                <a:spcPts val="800"/>
              </a:spcAft>
            </a:pPr>
            <a:r>
              <a:rPr sz="1800"/>
              <a:t>These take months to invent and tune. We have them already.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Pedagogical moat — research-backed retention</a:t>
            </a:r>
          </a:p>
        </p:txBody>
      </p:sp>
      <p:sp>
        <p:nvSpPr>
          <p:cNvPr id="3" name="TextBox 2"/>
          <p:cNvSpPr txBox="1"/>
          <p:nvPr/>
        </p:nvSpPr>
        <p:spPr>
          <a:xfrm>
            <a:off x="457200" y="1280160"/>
            <a:ext cx="11247120" cy="5303520"/>
          </a:xfrm>
          <a:prstGeom prst="rect">
            <a:avLst/>
          </a:prstGeom>
          <a:noFill/>
        </p:spPr>
        <p:txBody>
          <a:bodyPr wrap="square">
            <a:spAutoFit/>
          </a:bodyPr>
          <a:lstStyle/>
          <a:p>
            <a:pPr algn="l">
              <a:spcAft>
                <a:spcPts val="800"/>
              </a:spcAft>
            </a:pPr>
            <a:r>
              <a:rPr sz="1800"/>
              <a:t>The other moat: 50 years of cognitive-science evidence operationalised as product surface. Not new IP — an unowned synthesis.</a:t>
            </a:r>
          </a:p>
          <a:p>
            <a:pPr>
              <a:spcAft>
                <a:spcPts val="600"/>
              </a:spcAft>
            </a:pPr>
            <a:r>
              <a:rPr sz="1600"/>
              <a:t>Spacing (Cepeda et al. 2008, Psych Sci; 254-study meta in Cepeda</a:t>
            </a:r>
          </a:p>
          <a:p>
            <a:pPr algn="l">
              <a:spcAft>
                <a:spcPts val="800"/>
              </a:spcAft>
            </a:pPr>
            <a:r>
              <a:rPr sz="1800"/>
              <a:t>2006): expanding-interval review → ~2× retention vs massed practice.</a:t>
            </a:r>
          </a:p>
          <a:p>
            <a:pPr>
              <a:spcAft>
                <a:spcPts val="600"/>
              </a:spcAft>
            </a:pPr>
            <a:r>
              <a:rPr sz="1600"/>
              <a:t>Retrieval practice (Roediger &amp; Karpicke 2006, Psych Sci; Karpicke</a:t>
            </a:r>
          </a:p>
          <a:p>
            <a:pPr algn="l">
              <a:spcAft>
                <a:spcPts val="800"/>
              </a:spcAft>
            </a:pPr>
            <a:r>
              <a:rPr sz="1800"/>
              <a:t>&amp; Blunt 2011, Science): self-testing → ~50% lift on delayed retention vs re-reading.</a:t>
            </a:r>
          </a:p>
          <a:p>
            <a:pPr>
              <a:spcAft>
                <a:spcPts val="600"/>
              </a:spcAft>
            </a:pPr>
            <a:r>
              <a:rPr sz="1600"/>
              <a:t>Interleaving (Rohrer &amp; Taylor 2007): shuffled vs blocked → 63%</a:t>
            </a:r>
          </a:p>
          <a:p>
            <a:pPr algn="l">
              <a:spcAft>
                <a:spcPts val="800"/>
              </a:spcAft>
            </a:pPr>
            <a:r>
              <a:rPr sz="1800"/>
              <a:t>vs 20% on transfer items at one-week delay (~3× lift).</a:t>
            </a:r>
          </a:p>
          <a:p>
            <a:pPr>
              <a:spcAft>
                <a:spcPts val="600"/>
              </a:spcAft>
            </a:pPr>
            <a:r>
              <a:rPr sz="1600"/>
              <a:t>Generation effect (Slamecka &amp; Graf 1978): self-generated answers</a:t>
            </a:r>
          </a:p>
          <a:p>
            <a:pPr algn="l">
              <a:spcAft>
                <a:spcPts val="800"/>
              </a:spcAft>
            </a:pPr>
            <a:r>
              <a:rPr sz="1800"/>
              <a:t>retained ~30% better than read answers.</a:t>
            </a:r>
          </a:p>
          <a:p>
            <a:pPr>
              <a:spcAft>
                <a:spcPts val="600"/>
              </a:spcAft>
            </a:pPr>
            <a:r>
              <a:rPr sz="1600"/>
              <a:t>Cohort (Maven W1→W2 96% vs MOOC 16% — 14× retention multiplier;</a:t>
            </a:r>
          </a:p>
          <a:p>
            <a:pPr algn="l">
              <a:spcAft>
                <a:spcPts val="800"/>
              </a:spcAft>
            </a:pPr>
            <a:r>
              <a:rPr sz="1800"/>
              <a:t>Reich &amp; Ruipérez-Valiente 2019, Science): peer + accountability is the largest single retention multiplier in ed-tech.</a:t>
            </a:r>
          </a:p>
          <a:p>
            <a:pPr>
              <a:spcAft>
                <a:spcPts val="600"/>
              </a:spcAft>
            </a:pPr>
            <a:r>
              <a:rPr sz="1600"/>
              <a:t>Streak / variable reward (Eyal 2014; Skinner; Mazal 2022 on</a:t>
            </a:r>
          </a:p>
          <a:p>
            <a:pPr algn="l">
              <a:spcAft>
                <a:spcPts val="800"/>
              </a:spcAft>
            </a:pPr>
            <a:r>
              <a:rPr sz="1800"/>
              <a:t>Duolingo): CURR +21%, DAU 4.5× over 4 years.</a:t>
            </a:r>
          </a:p>
          <a:p>
            <a:pPr>
              <a:spcAft>
                <a:spcPts val="600"/>
              </a:spcAft>
            </a:pPr>
            <a:r>
              <a:rPr sz="1600"/>
              <a:t>Worked-example fading + expertise-reversal cutover (Sweller, van</a:t>
            </a:r>
          </a:p>
          <a:p>
            <a:pPr algn="l">
              <a:spcAft>
                <a:spcPts val="800"/>
              </a:spcAft>
            </a:pPr>
            <a:r>
              <a:rPr sz="1800"/>
              <a:t>Merriënboer &amp; Paas 2019; Kalyuga 2003): the right scaffold per Dreyfus rung; avoids the LMS one-format-for-all failure.</a:t>
            </a:r>
          </a:p>
          <a:p>
            <a:pPr>
              <a:spcAft>
                <a:spcPts val="600"/>
              </a:spcAft>
            </a:pPr>
            <a:r>
              <a:rPr sz="1600"/>
              <a:t>Calibration (Dunlosky &amp; Bjork; Kruger &amp; Dunning 1999): JOL pre-test</a:t>
            </a:r>
          </a:p>
          <a:p>
            <a:pPr algn="l">
              <a:spcAft>
                <a:spcPts val="800"/>
              </a:spcAft>
            </a:pPr>
            <a:r>
              <a:rPr sz="1800"/>
              <a:t>+ Δ post-test → makes confidence trainable; mock pass-rate becomes predictive of real-exam pass-rate.</a:t>
            </a:r>
          </a:p>
          <a:p>
            <a:pPr algn="l">
              <a:spcAft>
                <a:spcPts val="800"/>
              </a:spcAft>
            </a:pPr>
            <a:r>
              <a:rPr sz="1800"/>
              <a:t>We don't just teach with AI. We teach with peer-reviewed evidence.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Retention benchmarks — what we beat</a:t>
            </a:r>
          </a:p>
        </p:txBody>
      </p:sp>
      <p:sp>
        <p:nvSpPr>
          <p:cNvPr id="3" name="TextBox 2"/>
          <p:cNvSpPr txBox="1"/>
          <p:nvPr/>
        </p:nvSpPr>
        <p:spPr>
          <a:xfrm>
            <a:off x="457200" y="1280160"/>
            <a:ext cx="11247120" cy="5303520"/>
          </a:xfrm>
          <a:prstGeom prst="rect">
            <a:avLst/>
          </a:prstGeom>
          <a:noFill/>
        </p:spPr>
        <p:txBody>
          <a:bodyPr wrap="square">
            <a:spAutoFit/>
          </a:bodyPr>
          <a:lstStyle/>
          <a:p>
            <a:pPr algn="l">
              <a:spcAft>
                <a:spcPts val="800"/>
              </a:spcAft>
            </a:pPr>
            <a:r>
              <a:rPr sz="1800"/>
              <a:t>Every claim falsifiable; every benchmark named.</a:t>
            </a:r>
          </a:p>
        </p:txBody>
      </p:sp>
      <p:graphicFrame>
        <p:nvGraphicFramePr>
          <p:cNvPr id="4" name="Table 3"/>
          <p:cNvGraphicFramePr>
            <a:graphicFrameLocks noGrp="1"/>
          </p:cNvGraphicFramePr>
          <p:nvPr/>
        </p:nvGraphicFramePr>
        <p:xfrm>
          <a:off x="457200" y="1828800"/>
          <a:ext cx="11247120" cy="2880360"/>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411480">
                <a:tc>
                  <a:txBody>
                    <a:bodyPr/>
                    <a:lstStyle/>
                    <a:p>
                      <a:r>
                        <a:rPr sz="1100" b="1">
                          <a:solidFill>
                            <a:srgbClr val="FFFFFF"/>
                          </a:solidFill>
                        </a:rPr>
                        <a:t>Benchmark</a:t>
                      </a:r>
                    </a:p>
                  </a:txBody>
                  <a:tcPr>
                    <a:solidFill>
                      <a:srgbClr val="1A1A2E"/>
                    </a:solidFill>
                  </a:tcPr>
                </a:tc>
                <a:tc>
                  <a:txBody>
                    <a:bodyPr/>
                    <a:lstStyle/>
                    <a:p>
                      <a:r>
                        <a:rPr sz="1100" b="1">
                          <a:solidFill>
                            <a:srgbClr val="FFFFFF"/>
                          </a:solidFill>
                        </a:rPr>
                        <a:t>Industry baseline</a:t>
                      </a:r>
                    </a:p>
                  </a:txBody>
                  <a:tcPr>
                    <a:solidFill>
                      <a:srgbClr val="1A1A2E"/>
                    </a:solidFill>
                  </a:tcPr>
                </a:tc>
                <a:tc>
                  <a:txBody>
                    <a:bodyPr/>
                    <a:lstStyle/>
                    <a:p>
                      <a:r>
                        <a:rPr sz="1100" b="1">
                          <a:solidFill>
                            <a:srgbClr val="FFFFFF"/>
                          </a:solidFill>
                        </a:rPr>
                        <a:t>Our targeted outcome</a:t>
                      </a:r>
                    </a:p>
                  </a:txBody>
                  <a:tcPr>
                    <a:solidFill>
                      <a:srgbClr val="1A1A2E"/>
                    </a:solidFill>
                  </a:tcPr>
                </a:tc>
                <a:tc>
                  <a:txBody>
                    <a:bodyPr/>
                    <a:lstStyle/>
                    <a:p/>
                  </a:txBody>
                  <a:tcPr>
                    <a:solidFill>
                      <a:srgbClr val="1A1A2E"/>
                    </a:solidFill>
                  </a:tcPr>
                </a:tc>
                <a:tc>
                  <a:txBody>
                    <a:bodyPr/>
                    <a:lstStyle/>
                    <a:p/>
                  </a:txBody>
                  <a:tcPr>
                    <a:solidFill>
                      <a:srgbClr val="1A1A2E"/>
                    </a:solidFill>
                  </a:tcPr>
                </a:tc>
              </a:tr>
              <a:tr h="411480">
                <a:tc>
                  <a:txBody>
                    <a:bodyPr/>
                    <a:lstStyle/>
                    <a:p>
                      <a:r>
                        <a:rPr sz="1100"/>
                        <a:t>MOOC completion</a:t>
                      </a:r>
                    </a:p>
                  </a:txBody>
                  <a:tcPr/>
                </a:tc>
                <a:tc>
                  <a:txBody>
                    <a:bodyPr/>
                    <a:lstStyle/>
                    <a:p>
                      <a:r>
                        <a:rPr sz="1100"/>
                        <a:t>3–10% (Reich &amp; Ruipérez-Valiente 2019, Science)</a:t>
                      </a:r>
                    </a:p>
                  </a:txBody>
                  <a:tcPr/>
                </a:tc>
                <a:tc>
                  <a:txBody>
                    <a:bodyPr/>
                    <a:lstStyle/>
                    <a:p>
                      <a:r>
                        <a:rPr sz="1100"/>
                        <a:t>Cohort tier ≥ 60% (vs Maven 96%, altMBA 96%)</a:t>
                      </a:r>
                    </a:p>
                  </a:txBody>
                  <a:tcPr/>
                </a:tc>
                <a:tc>
                  <a:txBody>
                    <a:bodyPr/>
                    <a:lstStyle/>
                    <a:p/>
                  </a:txBody>
                  <a:tcPr/>
                </a:tc>
                <a:tc>
                  <a:txBody>
                    <a:bodyPr/>
                    <a:lstStyle/>
                    <a:p/>
                  </a:txBody>
                  <a:tcPr/>
                </a:tc>
              </a:tr>
              <a:tr h="411480">
                <a:tc>
                  <a:txBody>
                    <a:bodyPr/>
                    <a:lstStyle/>
                    <a:p>
                      <a:r>
                        <a:rPr sz="1100"/>
                        <a:t>Self-paced corporate completion</a:t>
                      </a:r>
                    </a:p>
                  </a:txBody>
                  <a:tcPr/>
                </a:tc>
                <a:tc>
                  <a:txBody>
                    <a:bodyPr/>
                    <a:lstStyle/>
                    <a:p>
                      <a:r>
                        <a:rPr sz="1100"/>
                        <a:t>12–15% (KPI Depot 2026 / ATD 72% across mixed formats)</a:t>
                      </a:r>
                    </a:p>
                  </a:txBody>
                  <a:tcPr/>
                </a:tc>
                <a:tc>
                  <a:txBody>
                    <a:bodyPr/>
                    <a:lstStyle/>
                    <a:p>
                      <a:r>
                        <a:rPr sz="1100"/>
                        <a:t>≥ 60% on cohort tier; live-interactive parity 85–95% achievable</a:t>
                      </a:r>
                    </a:p>
                  </a:txBody>
                  <a:tcPr/>
                </a:tc>
                <a:tc>
                  <a:txBody>
                    <a:bodyPr/>
                    <a:lstStyle/>
                    <a:p/>
                  </a:txBody>
                  <a:tcPr/>
                </a:tc>
                <a:tc>
                  <a:txBody>
                    <a:bodyPr/>
                    <a:lstStyle/>
                    <a:p/>
                  </a:txBody>
                  <a:tcPr/>
                </a:tc>
              </a:tr>
              <a:tr h="411480">
                <a:tc>
                  <a:txBody>
                    <a:bodyPr/>
                    <a:lstStyle/>
                    <a:p>
                      <a:r>
                        <a:rPr sz="1100"/>
                        <a:t>Mobile ed-tech D30 retention</a:t>
                      </a:r>
                    </a:p>
                  </a:txBody>
                  <a:tcPr/>
                </a:tc>
                <a:tc>
                  <a:txBody>
                    <a:bodyPr/>
                    <a:lstStyle/>
                    <a:p>
                      <a:r>
                        <a:rPr sz="1100"/>
                        <a:t>~14% (a16z mobile retention guides)</a:t>
                      </a:r>
                    </a:p>
                  </a:txBody>
                  <a:tcPr/>
                </a:tc>
                <a:tc>
                  <a:txBody>
                    <a:bodyPr/>
                    <a:lstStyle/>
                    <a:p>
                      <a:r>
                        <a:rPr sz="1100"/>
                        <a:t>≥ 35% (cohort tier)</a:t>
                      </a:r>
                    </a:p>
                  </a:txBody>
                  <a:tcPr/>
                </a:tc>
                <a:tc>
                  <a:txBody>
                    <a:bodyPr/>
                    <a:lstStyle/>
                    <a:p/>
                  </a:txBody>
                  <a:tcPr/>
                </a:tc>
                <a:tc>
                  <a:txBody>
                    <a:bodyPr/>
                    <a:lstStyle/>
                    <a:p/>
                  </a:txBody>
                  <a:tcPr/>
                </a:tc>
              </a:tr>
              <a:tr h="411480">
                <a:tc>
                  <a:txBody>
                    <a:bodyPr/>
                    <a:lstStyle/>
                    <a:p>
                      <a:r>
                        <a:rPr sz="1100"/>
                        <a:t>Mobile ed-tech D7 retention</a:t>
                      </a:r>
                    </a:p>
                  </a:txBody>
                  <a:tcPr/>
                </a:tc>
                <a:tc>
                  <a:txBody>
                    <a:bodyPr/>
                    <a:lstStyle/>
                    <a:p>
                      <a:r>
                        <a:rPr sz="1100"/>
                        <a:t>~28%</a:t>
                      </a:r>
                    </a:p>
                  </a:txBody>
                  <a:tcPr/>
                </a:tc>
                <a:tc>
                  <a:txBody>
                    <a:bodyPr/>
                    <a:lstStyle/>
                    <a:p>
                      <a:r>
                        <a:rPr sz="1100"/>
                        <a:t>≥ 40%</a:t>
                      </a:r>
                    </a:p>
                  </a:txBody>
                  <a:tcPr/>
                </a:tc>
                <a:tc>
                  <a:txBody>
                    <a:bodyPr/>
                    <a:lstStyle/>
                    <a:p/>
                  </a:txBody>
                  <a:tcPr/>
                </a:tc>
                <a:tc>
                  <a:txBody>
                    <a:bodyPr/>
                    <a:lstStyle/>
                    <a:p/>
                  </a:txBody>
                  <a:tcPr/>
                </a:tc>
              </a:tr>
              <a:tr h="411480">
                <a:tc>
                  <a:txBody>
                    <a:bodyPr/>
                    <a:lstStyle/>
                    <a:p>
                      <a:r>
                        <a:rPr sz="1100"/>
                        <a:t>W1→W2 retention</a:t>
                      </a:r>
                    </a:p>
                  </a:txBody>
                  <a:tcPr/>
                </a:tc>
                <a:tc>
                  <a:txBody>
                    <a:bodyPr/>
                    <a:lstStyle/>
                    <a:p>
                      <a:r>
                        <a:rPr sz="1100"/>
                        <a:t>MOOC 16%</a:t>
                      </a:r>
                    </a:p>
                  </a:txBody>
                  <a:tcPr/>
                </a:tc>
                <a:tc>
                  <a:txBody>
                    <a:bodyPr/>
                    <a:lstStyle/>
                    <a:p>
                      <a:r>
                        <a:rPr sz="1100"/>
                        <a:t>Cohort 96% (Maven precedent)</a:t>
                      </a:r>
                    </a:p>
                  </a:txBody>
                  <a:tcPr/>
                </a:tc>
                <a:tc>
                  <a:txBody>
                    <a:bodyPr/>
                    <a:lstStyle/>
                    <a:p/>
                  </a:txBody>
                  <a:tcPr/>
                </a:tc>
                <a:tc>
                  <a:txBody>
                    <a:bodyPr/>
                    <a:lstStyle/>
                    <a:p/>
                  </a:txBody>
                  <a:tcPr/>
                </a:tc>
              </a:tr>
              <a:tr h="411480">
                <a:tc>
                  <a:txBody>
                    <a:bodyPr/>
                    <a:lstStyle/>
                    <a:p>
                      <a:r>
                        <a:rPr sz="1100"/>
                        <a:t>Calibration Δ (L2 Kirkpatrick)</a:t>
                      </a:r>
                    </a:p>
                  </a:txBody>
                  <a:tcPr/>
                </a:tc>
                <a:tc>
                  <a:txBody>
                    <a:bodyPr/>
                    <a:lstStyle/>
                    <a:p>
                      <a:r>
                        <a:rPr sz="1100"/>
                        <a:t>not measured by competitors</a:t>
                      </a:r>
                    </a:p>
                  </a:txBody>
                  <a:tcPr/>
                </a:tc>
                <a:tc>
                  <a:txBody>
                    <a:bodyPr/>
                    <a:lstStyle/>
                    <a:p/>
                  </a:txBody>
                  <a:tcPr/>
                </a:tc>
                <a:tc>
                  <a:txBody>
                    <a:bodyPr/>
                    <a:lstStyle/>
                    <a:p>
                      <a:r>
                        <a:rPr sz="1100"/>
                        <a:t>Δ</a:t>
                      </a:r>
                    </a:p>
                  </a:txBody>
                  <a:tcPr/>
                </a:tc>
                <a:tc>
                  <a:txBody>
                    <a:bodyPr/>
                    <a:lstStyle/>
                    <a:p>
                      <a:r>
                        <a:rPr sz="1100"/>
                        <a:t>≤ 0.5 trending</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Segmentation TAM — the wedge order</a:t>
            </a:r>
          </a:p>
        </p:txBody>
      </p:sp>
      <p:sp>
        <p:nvSpPr>
          <p:cNvPr id="3" name="TextBox 2"/>
          <p:cNvSpPr txBox="1"/>
          <p:nvPr/>
        </p:nvSpPr>
        <p:spPr>
          <a:xfrm>
            <a:off x="457200" y="1280160"/>
            <a:ext cx="11247120" cy="5303520"/>
          </a:xfrm>
          <a:prstGeom prst="rect">
            <a:avLst/>
          </a:prstGeom>
          <a:noFill/>
        </p:spPr>
        <p:txBody>
          <a:bodyPr wrap="square">
            <a:spAutoFit/>
          </a:bodyPr>
          <a:lstStyle/>
          <a:p>
            <a:pPr algn="l">
              <a:spcAft>
                <a:spcPts val="800"/>
              </a:spcAft>
            </a:pPr>
            <a:r>
              <a:rPr sz="1800"/>
              <a:t>The market isn't undifferentiated. It segments cleanly:</a:t>
            </a:r>
          </a:p>
          <a:p>
            <a:pPr>
              <a:spcAft>
                <a:spcPts val="600"/>
              </a:spcAft>
            </a:pPr>
            <a:r>
              <a:rPr sz="1600"/>
              <a:t>2.7B deskless workers globally; 80%+ of total workforce (TalentCards</a:t>
            </a:r>
          </a:p>
          <a:p>
            <a:pPr algn="l">
              <a:spcAft>
                <a:spcPts val="800"/>
              </a:spcAft>
            </a:pPr>
            <a:r>
              <a:rPr sz="1800"/>
              <a:t>/ industry consensus). 90%+ want mobile-accessible training.</a:t>
            </a:r>
          </a:p>
          <a:p>
            <a:pPr>
              <a:spcAft>
                <a:spcPts val="600"/>
              </a:spcAft>
            </a:pPr>
            <a:r>
              <a:rPr sz="1600"/>
              <a:t>Microlearning market $3.32B (2026) → $5.81B (2031), 11.83% CAGR</a:t>
            </a:r>
          </a:p>
          <a:p>
            <a:pPr algn="l">
              <a:spcAft>
                <a:spcPts val="800"/>
              </a:spcAft>
            </a:pPr>
            <a:r>
              <a:rPr sz="1800"/>
              <a:t>(Mordor Intelligence). Retail leads at 21.53% revenue share 2025; healthcare/life-sciences highest CAGR at 15.22%.</a:t>
            </a:r>
          </a:p>
          <a:p>
            <a:pPr>
              <a:spcAft>
                <a:spcPts val="600"/>
              </a:spcAft>
            </a:pPr>
            <a:r>
              <a:rPr sz="1600"/>
              <a:t>**39% of employees need reskilling by 2030; 49% of L&amp;D pros report</a:t>
            </a:r>
          </a:p>
          <a:p>
            <a:pPr algn="l">
              <a:spcAft>
                <a:spcPts val="800"/>
              </a:spcAft>
            </a:pPr>
            <a:r>
              <a:rPr sz="1800"/>
              <a:t>exec concern about skill gaps** (LinkedIn Workplace Learning Report 2025).</a:t>
            </a:r>
          </a:p>
          <a:p>
            <a:pPr>
              <a:spcAft>
                <a:spcPts val="600"/>
              </a:spcAft>
            </a:pPr>
            <a:r>
              <a:rPr sz="1600"/>
              <a:t>L&amp;D AI top priority for 2nd consecutive year, 22.6% vote share</a:t>
            </a:r>
          </a:p>
          <a:p>
            <a:pPr algn="l">
              <a:spcAft>
                <a:spcPts val="800"/>
              </a:spcAft>
            </a:pPr>
            <a:r>
              <a:rPr sz="1800"/>
              <a:t>(Donald Taylor L&amp;D Global Sentiment Survey 2025; ~3000 voters, ~100 countries).</a:t>
            </a:r>
          </a:p>
          <a:p>
            <a:pPr algn="l">
              <a:spcAft>
                <a:spcPts val="800"/>
              </a:spcAft>
            </a:pPr>
            <a:r>
              <a:rPr sz="1800"/>
              <a:t>Wedge order for go-to-market:</a:t>
            </a:r>
          </a:p>
          <a:p>
            <a:pPr>
              <a:spcAft>
                <a:spcPts val="600"/>
              </a:spcAft>
            </a:pPr>
            <a:r>
              <a:rPr sz="1600"/>
              <a:t>Deskless verticals + single-SME-bottleneck SMBs first — lowest tooling</a:t>
            </a:r>
          </a:p>
          <a:p>
            <a:pPr algn="l">
              <a:spcAft>
                <a:spcPts val="800"/>
              </a:spcAft>
            </a:pPr>
            <a:r>
              <a:rPr sz="1800"/>
              <a:t>competition; highest urgency on the SME side (bus-factor 1).</a:t>
            </a:r>
          </a:p>
          <a:p>
            <a:pPr>
              <a:spcAft>
                <a:spcPts val="600"/>
              </a:spcAft>
            </a:pPr>
            <a:r>
              <a:rPr sz="1600"/>
              <a:t>Regulated enterprise second — highest ACV; &lt;70% completion ⇒ 3.5×</a:t>
            </a:r>
          </a:p>
          <a:p>
            <a:pPr algn="l">
              <a:spcAft>
                <a:spcPts val="800"/>
              </a:spcAft>
            </a:pPr>
            <a:r>
              <a:rPr sz="1800"/>
              <a:t>compliance-violation rate makes calibration Δ a monetisable L4 outcome (KPI Depot 2026).</a:t>
            </a:r>
          </a:p>
          <a:p>
            <a:pPr>
              <a:spcAft>
                <a:spcPts val="600"/>
              </a:spcAft>
            </a:pPr>
            <a:r>
              <a:rPr sz="1600"/>
              <a:t>B2C cert-prep continuing — CCA-F flagship; serves as the public</a:t>
            </a:r>
          </a:p>
          <a:p>
            <a:pPr algn="l">
              <a:spcAft>
                <a:spcPts val="800"/>
              </a:spcAft>
            </a:pPr>
            <a:r>
              <a:rPr sz="1800"/>
              <a:t>case study and attribution channel.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Why this works (mechanism + measurement)</a:t>
            </a:r>
          </a:p>
        </p:txBody>
      </p:sp>
      <p:sp>
        <p:nvSpPr>
          <p:cNvPr id="3" name="TextBox 2"/>
          <p:cNvSpPr txBox="1"/>
          <p:nvPr/>
        </p:nvSpPr>
        <p:spPr>
          <a:xfrm>
            <a:off x="457200" y="1280160"/>
            <a:ext cx="11247120" cy="5303520"/>
          </a:xfrm>
          <a:prstGeom prst="rect">
            <a:avLst/>
          </a:prstGeom>
          <a:noFill/>
        </p:spPr>
        <p:txBody>
          <a:bodyPr wrap="square">
            <a:spAutoFit/>
          </a:bodyPr>
          <a:lstStyle/>
          <a:p>
            <a:pPr algn="l">
              <a:spcAft>
                <a:spcPts val="800"/>
              </a:spcAft>
            </a:pPr>
            <a:r>
              <a:rPr sz="1800"/>
              <a:t>Eight learner-absorption mechanisms (LM1–LM8):</a:t>
            </a:r>
          </a:p>
          <a:p>
            <a:pPr algn="l">
              <a:spcAft>
                <a:spcPts val="800"/>
              </a:spcAft>
            </a:pPr>
            <a:r>
              <a:rPr sz="1800"/>
              <a:t>Eight SME-elicitation scaffolds (SM1–SM8) — CTA intake (+46% learning gain on resulting instruction, Cohen's d ≈ 1.72; Lee 2004 / Tofel-Grehl &amp; Feldon 2013), backward-design (Wiggins &amp; McTighe 1998), worked-example pair (Sweller; Renkl), expert-blind-spot probe (Nathan &amp; Petrosino 2003), principle-tag picker, 4C/ID coverage gate (van Merriënboer 1997), voice-first capture (Polanyi 1966), per-SME blind-spot dashboard (Ericsson 1993 — deliberate-practice feedback channel).</a:t>
            </a:r>
          </a:p>
          <a:p>
            <a:pPr algn="l">
              <a:spcAft>
                <a:spcPts val="800"/>
              </a:spcAft>
            </a:pPr>
            <a:r>
              <a:rPr sz="1800"/>
              <a:t>Each claim falsifiable via L1–L4 Kirkpatrick measurement built in from day one. Not aspirational.</a:t>
            </a:r>
          </a:p>
        </p:txBody>
      </p:sp>
      <p:graphicFrame>
        <p:nvGraphicFramePr>
          <p:cNvPr id="4" name="Table 3"/>
          <p:cNvGraphicFramePr>
            <a:graphicFrameLocks noGrp="1"/>
          </p:cNvGraphicFramePr>
          <p:nvPr/>
        </p:nvGraphicFramePr>
        <p:xfrm>
          <a:off x="457200" y="2240280"/>
          <a:ext cx="11247120" cy="3703320"/>
        </p:xfrm>
        <a:graphic>
          <a:graphicData uri="http://schemas.openxmlformats.org/drawingml/2006/table">
            <a:tbl>
              <a:tblPr firstRow="1" bandRow="1">
                <a:tableStyleId>{5C22544A-7EE6-4342-B048-85BDC9FD1C3A}</a:tableStyleId>
              </a:tblPr>
              <a:tblGrid>
                <a:gridCol w="5623560"/>
                <a:gridCol w="5623560"/>
              </a:tblGrid>
              <a:tr h="411480">
                <a:tc>
                  <a:txBody>
                    <a:bodyPr/>
                    <a:lstStyle/>
                    <a:p>
                      <a:r>
                        <a:rPr sz="1100" b="1">
                          <a:solidFill>
                            <a:srgbClr val="FFFFFF"/>
                          </a:solidFill>
                        </a:rPr>
                        <a:t>Mechanism</a:t>
                      </a:r>
                    </a:p>
                  </a:txBody>
                  <a:tcPr>
                    <a:solidFill>
                      <a:srgbClr val="1A1A2E"/>
                    </a:solidFill>
                  </a:tcPr>
                </a:tc>
                <a:tc>
                  <a:txBody>
                    <a:bodyPr/>
                    <a:lstStyle/>
                    <a:p>
                      <a:r>
                        <a:rPr sz="1100" b="1">
                          <a:solidFill>
                            <a:srgbClr val="FFFFFF"/>
                          </a:solidFill>
                        </a:rPr>
                        <a:t>Cited effect size</a:t>
                      </a:r>
                    </a:p>
                  </a:txBody>
                  <a:tcPr>
                    <a:solidFill>
                      <a:srgbClr val="1A1A2E"/>
                    </a:solidFill>
                  </a:tcPr>
                </a:tc>
              </a:tr>
              <a:tr h="411480">
                <a:tc>
                  <a:txBody>
                    <a:bodyPr/>
                    <a:lstStyle/>
                    <a:p>
                      <a:r>
                        <a:rPr sz="1100"/>
                        <a:t>LM1 Spacing</a:t>
                      </a:r>
                    </a:p>
                  </a:txBody>
                  <a:tcPr/>
                </a:tc>
                <a:tc>
                  <a:txBody>
                    <a:bodyPr/>
                    <a:lstStyle/>
                    <a:p>
                      <a:r>
                        <a:rPr sz="1100"/>
                        <a:t>2× (Cepeda 2008)</a:t>
                      </a:r>
                    </a:p>
                  </a:txBody>
                  <a:tcPr/>
                </a:tc>
              </a:tr>
              <a:tr h="411480">
                <a:tc>
                  <a:txBody>
                    <a:bodyPr/>
                    <a:lstStyle/>
                    <a:p>
                      <a:r>
                        <a:rPr sz="1100"/>
                        <a:t>LM2 Retrieval</a:t>
                      </a:r>
                    </a:p>
                  </a:txBody>
                  <a:tcPr/>
                </a:tc>
                <a:tc>
                  <a:txBody>
                    <a:bodyPr/>
                    <a:lstStyle/>
                    <a:p>
                      <a:r>
                        <a:rPr sz="1100"/>
                        <a:t>~50% lift (Roediger &amp; Karpicke 2006)</a:t>
                      </a:r>
                    </a:p>
                  </a:txBody>
                  <a:tcPr/>
                </a:tc>
              </a:tr>
              <a:tr h="411480">
                <a:tc>
                  <a:txBody>
                    <a:bodyPr/>
                    <a:lstStyle/>
                    <a:p>
                      <a:r>
                        <a:rPr sz="1100"/>
                        <a:t>LM3 Generation</a:t>
                      </a:r>
                    </a:p>
                  </a:txBody>
                  <a:tcPr/>
                </a:tc>
                <a:tc>
                  <a:txBody>
                    <a:bodyPr/>
                    <a:lstStyle/>
                    <a:p>
                      <a:r>
                        <a:rPr sz="1100"/>
                        <a:t>+30% (Slamecka &amp; Graf 1978)</a:t>
                      </a:r>
                    </a:p>
                  </a:txBody>
                  <a:tcPr/>
                </a:tc>
              </a:tr>
              <a:tr h="411480">
                <a:tc>
                  <a:txBody>
                    <a:bodyPr/>
                    <a:lstStyle/>
                    <a:p>
                      <a:r>
                        <a:rPr sz="1100"/>
                        <a:t>LM4 Interleaving</a:t>
                      </a:r>
                    </a:p>
                  </a:txBody>
                  <a:tcPr/>
                </a:tc>
                <a:tc>
                  <a:txBody>
                    <a:bodyPr/>
                    <a:lstStyle/>
                    <a:p>
                      <a:r>
                        <a:rPr sz="1100"/>
                        <a:t>3× transfer lift (Rohrer &amp; Taylor 2007)</a:t>
                      </a:r>
                    </a:p>
                  </a:txBody>
                  <a:tcPr/>
                </a:tc>
              </a:tr>
              <a:tr h="411480">
                <a:tc>
                  <a:txBody>
                    <a:bodyPr/>
                    <a:lstStyle/>
                    <a:p>
                      <a:r>
                        <a:rPr sz="1100"/>
                        <a:t>LM5 Worked-example fading + expertise-reversal cutover</a:t>
                      </a:r>
                    </a:p>
                  </a:txBody>
                  <a:tcPr/>
                </a:tc>
                <a:tc>
                  <a:txBody>
                    <a:bodyPr/>
                    <a:lstStyle/>
                    <a:p>
                      <a:r>
                        <a:rPr sz="1100"/>
                        <a:t>(Sweller 2019; Kalyuga 2003)</a:t>
                      </a:r>
                    </a:p>
                  </a:txBody>
                  <a:tcPr/>
                </a:tc>
              </a:tr>
              <a:tr h="411480">
                <a:tc>
                  <a:txBody>
                    <a:bodyPr/>
                    <a:lstStyle/>
                    <a:p>
                      <a:r>
                        <a:rPr sz="1100"/>
                        <a:t>LM6 Calibration capture</a:t>
                      </a:r>
                    </a:p>
                  </a:txBody>
                  <a:tcPr/>
                </a:tc>
                <a:tc>
                  <a:txBody>
                    <a:bodyPr/>
                    <a:lstStyle/>
                    <a:p>
                      <a:r>
                        <a:rPr sz="1100"/>
                        <a:t>(Dunlosky &amp; Bjork; Kruger &amp; Dunning 1999)</a:t>
                      </a:r>
                    </a:p>
                  </a:txBody>
                  <a:tcPr/>
                </a:tc>
              </a:tr>
              <a:tr h="411480">
                <a:tc>
                  <a:txBody>
                    <a:bodyPr/>
                    <a:lstStyle/>
                    <a:p>
                      <a:r>
                        <a:rPr sz="1100"/>
                        <a:t>LM7 Streak / variable-reward</a:t>
                      </a:r>
                    </a:p>
                  </a:txBody>
                  <a:tcPr/>
                </a:tc>
                <a:tc>
                  <a:txBody>
                    <a:bodyPr/>
                    <a:lstStyle/>
                    <a:p>
                      <a:r>
                        <a:rPr sz="1100"/>
                        <a:t>CURR +21%, DAU 4.5× (Mazal/Duolingo 2022)</a:t>
                      </a:r>
                    </a:p>
                  </a:txBody>
                  <a:tcPr/>
                </a:tc>
              </a:tr>
              <a:tr h="411480">
                <a:tc>
                  <a:txBody>
                    <a:bodyPr/>
                    <a:lstStyle/>
                    <a:p>
                      <a:r>
                        <a:rPr sz="1100"/>
                        <a:t>LM8 Cohort</a:t>
                      </a:r>
                    </a:p>
                  </a:txBody>
                  <a:tcPr/>
                </a:tc>
                <a:tc>
                  <a:txBody>
                    <a:bodyPr/>
                    <a:lstStyle/>
                    <a:p>
                      <a:r>
                        <a:rPr sz="1100"/>
                        <a:t>14× retention vs MOOC (Maven; Reich 2019, Science)</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Problems → product mitigation (the LP-level audit)</a:t>
            </a:r>
          </a:p>
        </p:txBody>
      </p:sp>
      <p:sp>
        <p:nvSpPr>
          <p:cNvPr id="3" name="TextBox 2"/>
          <p:cNvSpPr txBox="1"/>
          <p:nvPr/>
        </p:nvSpPr>
        <p:spPr>
          <a:xfrm>
            <a:off x="457200" y="1280160"/>
            <a:ext cx="11247120" cy="5303520"/>
          </a:xfrm>
          <a:prstGeom prst="rect">
            <a:avLst/>
          </a:prstGeom>
          <a:noFill/>
        </p:spPr>
        <p:txBody>
          <a:bodyPr wrap="square">
            <a:spAutoFit/>
          </a:bodyPr>
          <a:lstStyle/>
          <a:p>
            <a:pPr algn="l">
              <a:spcAft>
                <a:spcPts val="800"/>
              </a:spcAft>
            </a:pPr>
            <a:r>
              <a:rPr sz="1800"/>
              <a:t>The pattern an investor should look for: every retention or absorption problem is mitigated by a specific, shipped feature with a named research source — not by exhortation, not by "we'll figure it out," not by founder-charisma. This is the audit.</a:t>
            </a:r>
          </a:p>
          <a:p>
            <a:pPr algn="l">
              <a:spcAft>
                <a:spcPts val="800"/>
              </a:spcAft>
            </a:pPr>
            <a:r>
              <a:rPr sz="1800"/>
              <a:t>The moat is the matrix. Anyone can build an AI tutor. The defensibility is the named-mechanism → shipped-feature → falsifiable-metric chain — and the willingness to be measured against L1–L4 Kirkpatrick targets in §D4 of the build plan. Full diligence dossier in research-and-strategy-dossier.md — TAM/SAM/SOM, named industry comparables (Duolingo, Coursera, Maven, Section, Cornerstone, Docebo), pricing tiers, unit economics, NRR targets (Y1 ≥ 110%, Y2 ≥ 120% per SaaS Capital 2025), and capital- efficiency case.</a:t>
            </a:r>
          </a:p>
        </p:txBody>
      </p:sp>
      <p:graphicFrame>
        <p:nvGraphicFramePr>
          <p:cNvPr id="4" name="Table 3"/>
          <p:cNvGraphicFramePr>
            <a:graphicFrameLocks noGrp="1"/>
          </p:cNvGraphicFramePr>
          <p:nvPr/>
        </p:nvGraphicFramePr>
        <p:xfrm>
          <a:off x="457200" y="2240280"/>
          <a:ext cx="11247120" cy="4114800"/>
        </p:xfrm>
        <a:graphic>
          <a:graphicData uri="http://schemas.openxmlformats.org/drawingml/2006/table">
            <a:tbl>
              <a:tblPr firstRow="1" bandRow="1">
                <a:tableStyleId>{5C22544A-7EE6-4342-B048-85BDC9FD1C3A}</a:tableStyleId>
              </a:tblPr>
              <a:tblGrid>
                <a:gridCol w="3749040"/>
                <a:gridCol w="3749040"/>
                <a:gridCol w="3749040"/>
              </a:tblGrid>
              <a:tr h="411480">
                <a:tc>
                  <a:txBody>
                    <a:bodyPr/>
                    <a:lstStyle/>
                    <a:p>
                      <a:r>
                        <a:rPr sz="1100" b="1">
                          <a:solidFill>
                            <a:srgbClr val="FFFFFF"/>
                          </a:solidFill>
                        </a:rPr>
                        <a:t>Problem identified</a:t>
                      </a:r>
                    </a:p>
                  </a:txBody>
                  <a:tcPr>
                    <a:solidFill>
                      <a:srgbClr val="1A1A2E"/>
                    </a:solidFill>
                  </a:tcPr>
                </a:tc>
                <a:tc>
                  <a:txBody>
                    <a:bodyPr/>
                    <a:lstStyle/>
                    <a:p>
                      <a:r>
                        <a:rPr sz="1100" b="1">
                          <a:solidFill>
                            <a:srgbClr val="FFFFFF"/>
                          </a:solidFill>
                        </a:rPr>
                        <a:t>Platform feature mitigating it</a:t>
                      </a:r>
                    </a:p>
                  </a:txBody>
                  <a:tcPr>
                    <a:solidFill>
                      <a:srgbClr val="1A1A2E"/>
                    </a:solidFill>
                  </a:tcPr>
                </a:tc>
                <a:tc>
                  <a:txBody>
                    <a:bodyPr/>
                    <a:lstStyle/>
                    <a:p>
                      <a:r>
                        <a:rPr sz="1100" b="1">
                          <a:solidFill>
                            <a:srgbClr val="FFFFFF"/>
                          </a:solidFill>
                        </a:rPr>
                        <a:t>Cited source</a:t>
                      </a:r>
                    </a:p>
                  </a:txBody>
                  <a:tcPr>
                    <a:solidFill>
                      <a:srgbClr val="1A1A2E"/>
                    </a:solidFill>
                  </a:tcPr>
                </a:tc>
              </a:tr>
              <a:tr h="411480">
                <a:tc>
                  <a:txBody>
                    <a:bodyPr/>
                    <a:lstStyle/>
                    <a:p>
                      <a:r>
                        <a:rPr sz="1100"/>
                        <a:t>Knowledge decays exponentially without review</a:t>
                      </a:r>
                    </a:p>
                  </a:txBody>
                  <a:tcPr/>
                </a:tc>
                <a:tc>
                  <a:txBody>
                    <a:bodyPr/>
                    <a:lstStyle/>
                    <a:p>
                      <a:r>
                        <a:rPr sz="1100"/>
                        <a:t>Spaced-review banner on the learner dashboard (one-tap start); expanding interval 1/3/7/14/30d</a:t>
                      </a:r>
                    </a:p>
                  </a:txBody>
                  <a:tcPr/>
                </a:tc>
                <a:tc>
                  <a:txBody>
                    <a:bodyPr/>
                    <a:lstStyle/>
                    <a:p>
                      <a:r>
                        <a:rPr sz="1100"/>
                        <a:t>Cepeda 2008 Psych Sci; Murre &amp; Dros 2015</a:t>
                      </a:r>
                    </a:p>
                  </a:txBody>
                  <a:tcPr/>
                </a:tc>
              </a:tr>
              <a:tr h="411480">
                <a:tc>
                  <a:txBody>
                    <a:bodyPr/>
                    <a:lstStyle/>
                    <a:p>
                      <a:r>
                        <a:rPr sz="1100"/>
                        <a:t>Re-reading produces fluency illusion (high JOL, low recall)</a:t>
                      </a:r>
                    </a:p>
                  </a:txBody>
                  <a:tcPr/>
                </a:tc>
                <a:tc>
                  <a:txBody>
                    <a:bodyPr/>
                    <a:lstStyle/>
                    <a:p>
                      <a:r>
                        <a:rPr sz="1100"/>
                        <a:t>Mid-lesson retrieval gate; write-the-principle before reveal</a:t>
                      </a:r>
                    </a:p>
                  </a:txBody>
                  <a:tcPr/>
                </a:tc>
                <a:tc>
                  <a:txBody>
                    <a:bodyPr/>
                    <a:lstStyle/>
                    <a:p>
                      <a:r>
                        <a:rPr sz="1100"/>
                        <a:t>Roediger &amp; Karpicke 2006; Slamecka &amp; Graf 1978</a:t>
                      </a:r>
                    </a:p>
                  </a:txBody>
                  <a:tcPr/>
                </a:tc>
              </a:tr>
              <a:tr h="411480">
                <a:tc>
                  <a:txBody>
                    <a:bodyPr/>
                    <a:lstStyle/>
                    <a:p>
                      <a:r>
                        <a:rPr sz="1100"/>
                        <a:t>Streaks computed but no return-trigger</a:t>
                      </a:r>
                    </a:p>
                  </a:txBody>
                  <a:tcPr/>
                </a:tc>
                <a:tc>
                  <a:txBody>
                    <a:bodyPr/>
                    <a:lstStyle/>
                    <a:p>
                      <a:r>
                        <a:rPr sz="1100"/>
                        <a:t>Web-push at user's modal study-time; streak-freeze; email digest fallback</a:t>
                      </a:r>
                    </a:p>
                  </a:txBody>
                  <a:tcPr/>
                </a:tc>
                <a:tc>
                  <a:txBody>
                    <a:bodyPr/>
                    <a:lstStyle/>
                    <a:p>
                      <a:r>
                        <a:rPr sz="1100"/>
                        <a:t>Eyal 2014 (Hook Model); Mazal 2022 (Duolingo CURR +21%, DAU 4.5×)</a:t>
                      </a:r>
                    </a:p>
                  </a:txBody>
                  <a:tcPr/>
                </a:tc>
              </a:tr>
              <a:tr h="411480">
                <a:tc>
                  <a:txBody>
                    <a:bodyPr/>
                    <a:lstStyle/>
                    <a:p>
                      <a:r>
                        <a:rPr sz="1100"/>
                        <a:t>MOOC completion 3–10% — no relatedness surface</a:t>
                      </a:r>
                    </a:p>
                  </a:txBody>
                  <a:tcPr/>
                </a:tc>
                <a:tc>
                  <a:txBody>
                    <a:bodyPr/>
                    <a:lstStyle/>
                    <a:p>
                      <a:r>
                        <a:rPr sz="1100"/>
                        <a:t>Per-cohort routes, peer-comparison, group leaderboard</a:t>
                      </a:r>
                    </a:p>
                  </a:txBody>
                  <a:tcPr/>
                </a:tc>
                <a:tc>
                  <a:txBody>
                    <a:bodyPr/>
                    <a:lstStyle/>
                    <a:p>
                      <a:r>
                        <a:rPr sz="1100"/>
                        <a:t>Ryan &amp; Deci (SDT); Maven W1→W2 96% (14× MOOC)</a:t>
                      </a:r>
                    </a:p>
                  </a:txBody>
                  <a:tcPr/>
                </a:tc>
              </a:tr>
              <a:tr h="411480">
                <a:tc>
                  <a:txBody>
                    <a:bodyPr/>
                    <a:lstStyle/>
                    <a:p>
                      <a:r>
                        <a:rPr sz="1100"/>
                        <a:t>Calibration not captured — Dunning-Kruger gap invisible</a:t>
                      </a:r>
                    </a:p>
                  </a:txBody>
                  <a:tcPr/>
                </a:tc>
                <a:tc>
                  <a:txBody>
                    <a:bodyPr/>
                    <a:lstStyle/>
                    <a:p>
                      <a:r>
                        <a:rPr sz="1100"/>
                        <a:t>JOL slider + calibration-Δ trend in stats panel</a:t>
                      </a:r>
                    </a:p>
                  </a:txBody>
                  <a:tcPr/>
                </a:tc>
                <a:tc>
                  <a:txBody>
                    <a:bodyPr/>
                    <a:lstStyle/>
                    <a:p>
                      <a:r>
                        <a:rPr sz="1100"/>
                        <a:t>Dunlosky &amp; Bjork; Kruger &amp; Dunning 1999</a:t>
                      </a:r>
                    </a:p>
                  </a:txBody>
                  <a:tcPr/>
                </a:tc>
              </a:tr>
              <a:tr h="411480">
                <a:tc>
                  <a:txBody>
                    <a:bodyPr/>
                    <a:lstStyle/>
                    <a:p>
                      <a:r>
                        <a:rPr sz="1100"/>
                        <a:t>SMEs omit ~70% of decisions self-narrating</a:t>
                      </a:r>
                    </a:p>
                  </a:txBody>
                  <a:tcPr/>
                </a:tc>
                <a:tc>
                  <a:txBody>
                    <a:bodyPr/>
                    <a:lstStyle/>
                    <a:p>
                      <a:r>
                        <a:rPr sz="1100"/>
                        <a:t>5-probe CTA DrafterIntake schema; admin app blocks publish if any field empty</a:t>
                      </a:r>
                    </a:p>
                  </a:txBody>
                  <a:tcPr/>
                </a:tc>
                <a:tc>
                  <a:txBody>
                    <a:bodyPr/>
                    <a:lstStyle/>
                    <a:p>
                      <a:r>
                        <a:rPr sz="1100"/>
                        <a:t>Clark / Feldon; Lee 2004 (+46% learning gain, d ≈ 1.72)</a:t>
                      </a:r>
                    </a:p>
                  </a:txBody>
                  <a:tcPr/>
                </a:tc>
              </a:tr>
              <a:tr h="411480">
                <a:tc>
                  <a:txBody>
                    <a:bodyPr/>
                    <a:lstStyle/>
                    <a:p>
                      <a:r>
                        <a:rPr sz="1100"/>
                        <a:t>Curse of expertise — bridging steps under-explained</a:t>
                      </a:r>
                    </a:p>
                  </a:txBody>
                  <a:tcPr/>
                </a:tc>
                <a:tc>
                  <a:txBody>
                    <a:bodyPr/>
                    <a:lstStyle/>
                    <a:p>
                      <a:r>
                        <a:rPr sz="1100"/>
                        <a:t>"Novice-error" probe required at submit; critic surfaces blind-spot flags</a:t>
                      </a:r>
                    </a:p>
                  </a:txBody>
                  <a:tcPr/>
                </a:tc>
                <a:tc>
                  <a:txBody>
                    <a:bodyPr/>
                    <a:lstStyle/>
                    <a:p>
                      <a:r>
                        <a:rPr sz="1100"/>
                        <a:t>Nathan &amp; Petrosino 2003</a:t>
                      </a:r>
                    </a:p>
                  </a:txBody>
                  <a:tcPr/>
                </a:tc>
              </a:tr>
              <a:tr h="411480">
                <a:tc>
                  <a:txBody>
                    <a:bodyPr/>
                    <a:lstStyle/>
                    <a:p>
                      <a:r>
                        <a:rPr sz="1100"/>
                        <a:t>Tacit knowledge unrecoverable from text-from-blank (deskless / shop-floor)</a:t>
                      </a:r>
                    </a:p>
                  </a:txBody>
                  <a:tcPr/>
                </a:tc>
                <a:tc>
                  <a:txBody>
                    <a:bodyPr/>
                    <a:lstStyle/>
                    <a:p>
                      <a:r>
                        <a:rPr sz="1100"/>
                        <a:t>Voice-first / camera-first authoring + auto-draft into 5-probe intake</a:t>
                      </a:r>
                    </a:p>
                  </a:txBody>
                  <a:tcPr/>
                </a:tc>
                <a:tc>
                  <a:txBody>
                    <a:bodyPr/>
                    <a:lstStyle/>
                    <a:p>
                      <a:r>
                        <a:rPr sz="1100"/>
                        <a:t>Polanyi 1966; TalentCards (~2.7B deskless)</a:t>
                      </a:r>
                    </a:p>
                  </a:txBody>
                  <a:tcPr/>
                </a:tc>
              </a:tr>
              <a:tr h="411480">
                <a:tc>
                  <a:txBody>
                    <a:bodyPr/>
                    <a:lstStyle/>
                    <a:p>
                      <a:r>
                        <a:rPr sz="1100"/>
                        <a:t>Critic feedback no loop — SME never improves</a:t>
                      </a:r>
                    </a:p>
                  </a:txBody>
                  <a:tcPr/>
                </a:tc>
                <a:tc>
                  <a:txBody>
                    <a:bodyPr/>
                    <a:lstStyle/>
                    <a:p>
                      <a:r>
                        <a:rPr sz="1100"/>
                        <a:t>Per-SME blind-spot dashboard + personalised authoring prompts</a:t>
                      </a:r>
                    </a:p>
                  </a:txBody>
                  <a:tcPr/>
                </a:tc>
                <a:tc>
                  <a:txBody>
                    <a:bodyPr/>
                    <a:lstStyle/>
                    <a:p>
                      <a:r>
                        <a:rPr sz="1100"/>
                        <a:t>Ericsson 1993 (deliberate-practice feedback channel)</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Founder fit</a:t>
            </a:r>
          </a:p>
        </p:txBody>
      </p:sp>
      <p:sp>
        <p:nvSpPr>
          <p:cNvPr id="3" name="TextBox 2"/>
          <p:cNvSpPr txBox="1"/>
          <p:nvPr/>
        </p:nvSpPr>
        <p:spPr>
          <a:xfrm>
            <a:off x="457200" y="1280160"/>
            <a:ext cx="11247120" cy="5303520"/>
          </a:xfrm>
          <a:prstGeom prst="rect">
            <a:avLst/>
          </a:prstGeom>
          <a:noFill/>
        </p:spPr>
        <p:txBody>
          <a:bodyPr wrap="square">
            <a:spAutoFit/>
          </a:bodyPr>
          <a:lstStyle/>
          <a:p>
            <a:pPr/>
            <a:r>
              <a:rPr sz="1600"/>
              <a:t>Senior developer (15+ years), structured-thinking-strong (ABAP background — schema and process discipline).</a:t>
            </a:r>
          </a:p>
          <a:p>
            <a:pPr/>
            <a:r>
              <a:rPr sz="1600"/>
              <a:t>Building from a real artifact: a personal CCA-F study repo with mock exams, error-log analytics, and the failure-mode taxonomy that becomes the platform's moat.</a:t>
            </a:r>
          </a:p>
          <a:p>
            <a:pPr/>
            <a:r>
              <a:rPr sz="1600"/>
              <a:t>Hands-on operator profile — comfortable doing all four of: write code, write content, write copy, talk to customers.</a:t>
            </a:r>
          </a:p>
          <a:p>
            <a:pPr>
              <a:spcAft>
                <a:spcPts val="600"/>
              </a:spcAft>
            </a:pPr>
            <a:r>
              <a:rPr sz="1600"/>
              <a:t>Day job is unrelated; this is a side bet, not a stake-everything-on-it situation. Right shape for capital-efficient validation, wrong shape for "fund-the-team-of-12."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Roadmap to $100k MRR</a:t>
            </a:r>
          </a:p>
        </p:txBody>
      </p:sp>
      <p:sp>
        <p:nvSpPr>
          <p:cNvPr id="3" name="TextBox 2"/>
          <p:cNvSpPr txBox="1"/>
          <p:nvPr/>
        </p:nvSpPr>
        <p:spPr>
          <a:xfrm>
            <a:off x="457200" y="1280160"/>
            <a:ext cx="11247120" cy="5303520"/>
          </a:xfrm>
          <a:prstGeom prst="rect">
            <a:avLst/>
          </a:prstGeom>
          <a:noFill/>
        </p:spPr>
        <p:txBody>
          <a:bodyPr wrap="square">
            <a:spAutoFit/>
          </a:bodyPr>
          <a:lstStyle/>
          <a:p>
            <a:pPr algn="l">
              <a:spcAft>
                <a:spcPts val="800"/>
              </a:spcAft>
            </a:pPr>
            <a:r>
              <a:rPr sz="1800"/>
              <a:t>This is intentionally conservative. The unit economics support faster growth if a B2B reseller channel emerges.</a:t>
            </a:r>
          </a:p>
        </p:txBody>
      </p:sp>
      <p:graphicFrame>
        <p:nvGraphicFramePr>
          <p:cNvPr id="4" name="Table 3"/>
          <p:cNvGraphicFramePr>
            <a:graphicFrameLocks noGrp="1"/>
          </p:cNvGraphicFramePr>
          <p:nvPr/>
        </p:nvGraphicFramePr>
        <p:xfrm>
          <a:off x="457200" y="1828800"/>
          <a:ext cx="11247120" cy="3291840"/>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411480">
                <a:tc>
                  <a:txBody>
                    <a:bodyPr/>
                    <a:lstStyle/>
                    <a:p>
                      <a:r>
                        <a:rPr sz="1100" b="1">
                          <a:solidFill>
                            <a:srgbClr val="FFFFFF"/>
                          </a:solidFill>
                        </a:rPr>
                        <a:t>Milestone</a:t>
                      </a:r>
                    </a:p>
                  </a:txBody>
                  <a:tcPr>
                    <a:solidFill>
                      <a:srgbClr val="1A1A2E"/>
                    </a:solidFill>
                  </a:tcPr>
                </a:tc>
                <a:tc>
                  <a:txBody>
                    <a:bodyPr/>
                    <a:lstStyle/>
                    <a:p>
                      <a:r>
                        <a:rPr sz="1100" b="1">
                          <a:solidFill>
                            <a:srgbClr val="FFFFFF"/>
                          </a:solidFill>
                        </a:rPr>
                        <a:t>When</a:t>
                      </a:r>
                    </a:p>
                  </a:txBody>
                  <a:tcPr>
                    <a:solidFill>
                      <a:srgbClr val="1A1A2E"/>
                    </a:solidFill>
                  </a:tcPr>
                </a:tc>
                <a:tc>
                  <a:txBody>
                    <a:bodyPr/>
                    <a:lstStyle/>
                    <a:p>
                      <a:r>
                        <a:rPr sz="1100" b="1">
                          <a:solidFill>
                            <a:srgbClr val="FFFFFF"/>
                          </a:solidFill>
                        </a:rPr>
                        <a:t>What's true</a:t>
                      </a:r>
                    </a:p>
                  </a:txBody>
                  <a:tcPr>
                    <a:solidFill>
                      <a:srgbClr val="1A1A2E"/>
                    </a:solidFill>
                  </a:tcPr>
                </a:tc>
                <a:tc>
                  <a:txBody>
                    <a:bodyPr/>
                    <a:lstStyle/>
                    <a:p/>
                  </a:txBody>
                  <a:tcPr>
                    <a:solidFill>
                      <a:srgbClr val="1A1A2E"/>
                    </a:solidFill>
                  </a:tcPr>
                </a:tc>
                <a:tc>
                  <a:txBody>
                    <a:bodyPr/>
                    <a:lstStyle/>
                    <a:p/>
                  </a:txBody>
                  <a:tcPr>
                    <a:solidFill>
                      <a:srgbClr val="1A1A2E"/>
                    </a:solidFill>
                  </a:tcPr>
                </a:tc>
              </a:tr>
              <a:tr h="411480">
                <a:tc>
                  <a:txBody>
                    <a:bodyPr/>
                    <a:lstStyle/>
                    <a:p>
                      <a:r>
                        <a:rPr sz="1100"/>
                        <a:t>Phase 1 success-gate hit</a:t>
                      </a:r>
                    </a:p>
                  </a:txBody>
                  <a:tcPr/>
                </a:tc>
                <a:tc>
                  <a:txBody>
                    <a:bodyPr/>
                    <a:lstStyle/>
                    <a:p>
                      <a:r>
                        <a:rPr sz="1100"/>
                        <a:t>Month 3</a:t>
                      </a:r>
                    </a:p>
                  </a:txBody>
                  <a:tcPr/>
                </a:tc>
                <a:tc>
                  <a:txBody>
                    <a:bodyPr/>
                    <a:lstStyle/>
                    <a:p>
                      <a:r>
                        <a:rPr sz="1100"/>
                        <a:t>3 LOIs + 10 pre-orders</a:t>
                      </a:r>
                    </a:p>
                  </a:txBody>
                  <a:tcPr/>
                </a:tc>
                <a:tc>
                  <a:txBody>
                    <a:bodyPr/>
                    <a:lstStyle/>
                    <a:p/>
                  </a:txBody>
                  <a:tcPr/>
                </a:tc>
                <a:tc>
                  <a:txBody>
                    <a:bodyPr/>
                    <a:lstStyle/>
                    <a:p/>
                  </a:txBody>
                  <a:tcPr/>
                </a:tc>
              </a:tr>
              <a:tr h="411480">
                <a:tc>
                  <a:txBody>
                    <a:bodyPr/>
                    <a:lstStyle/>
                    <a:p>
                      <a:r>
                        <a:rPr sz="1100"/>
                        <a:t>First B2B tenant onboarded</a:t>
                      </a:r>
                    </a:p>
                  </a:txBody>
                  <a:tcPr/>
                </a:tc>
                <a:tc>
                  <a:txBody>
                    <a:bodyPr/>
                    <a:lstStyle/>
                    <a:p>
                      <a:r>
                        <a:rPr sz="1100"/>
                        <a:t>Month 4</a:t>
                      </a:r>
                    </a:p>
                  </a:txBody>
                  <a:tcPr/>
                </a:tc>
                <a:tc>
                  <a:txBody>
                    <a:bodyPr/>
                    <a:lstStyle/>
                    <a:p>
                      <a:r>
                        <a:rPr sz="1100"/>
                        <a:t>$1k MRR</a:t>
                      </a:r>
                    </a:p>
                  </a:txBody>
                  <a:tcPr/>
                </a:tc>
                <a:tc>
                  <a:txBody>
                    <a:bodyPr/>
                    <a:lstStyle/>
                    <a:p/>
                  </a:txBody>
                  <a:tcPr/>
                </a:tc>
                <a:tc>
                  <a:txBody>
                    <a:bodyPr/>
                    <a:lstStyle/>
                    <a:p/>
                  </a:txBody>
                  <a:tcPr/>
                </a:tc>
              </a:tr>
              <a:tr h="411480">
                <a:tc>
                  <a:txBody>
                    <a:bodyPr/>
                    <a:lstStyle/>
                    <a:p>
                      <a:r>
                        <a:rPr sz="1100"/>
                        <a:t>5 B2B tenants</a:t>
                      </a:r>
                    </a:p>
                  </a:txBody>
                  <a:tcPr/>
                </a:tc>
                <a:tc>
                  <a:txBody>
                    <a:bodyPr/>
                    <a:lstStyle/>
                    <a:p>
                      <a:r>
                        <a:rPr sz="1100"/>
                        <a:t>Month 6</a:t>
                      </a:r>
                    </a:p>
                  </a:txBody>
                  <a:tcPr/>
                </a:tc>
                <a:tc>
                  <a:txBody>
                    <a:bodyPr/>
                    <a:lstStyle/>
                    <a:p>
                      <a:r>
                        <a:rPr sz="1100"/>
                        <a:t>$5–10k MRR</a:t>
                      </a:r>
                    </a:p>
                  </a:txBody>
                  <a:tcPr/>
                </a:tc>
                <a:tc>
                  <a:txBody>
                    <a:bodyPr/>
                    <a:lstStyle/>
                    <a:p/>
                  </a:txBody>
                  <a:tcPr/>
                </a:tc>
                <a:tc>
                  <a:txBody>
                    <a:bodyPr/>
                    <a:lstStyle/>
                    <a:p/>
                  </a:txBody>
                  <a:tcPr/>
                </a:tc>
              </a:tr>
              <a:tr h="411480">
                <a:tc>
                  <a:txBody>
                    <a:bodyPr/>
                    <a:lstStyle/>
                    <a:p>
                      <a:r>
                        <a:rPr sz="1100"/>
                        <a:t>100 B2C Pro + 20 B2B</a:t>
                      </a:r>
                    </a:p>
                  </a:txBody>
                  <a:tcPr/>
                </a:tc>
                <a:tc>
                  <a:txBody>
                    <a:bodyPr/>
                    <a:lstStyle/>
                    <a:p>
                      <a:r>
                        <a:rPr sz="1100"/>
                        <a:t>Month 12</a:t>
                      </a:r>
                    </a:p>
                  </a:txBody>
                  <a:tcPr/>
                </a:tc>
                <a:tc>
                  <a:txBody>
                    <a:bodyPr/>
                    <a:lstStyle/>
                    <a:p>
                      <a:r>
                        <a:rPr sz="1100"/>
                        <a:t>~$25k MRR</a:t>
                      </a:r>
                    </a:p>
                  </a:txBody>
                  <a:tcPr/>
                </a:tc>
                <a:tc>
                  <a:txBody>
                    <a:bodyPr/>
                    <a:lstStyle/>
                    <a:p/>
                  </a:txBody>
                  <a:tcPr/>
                </a:tc>
                <a:tc>
                  <a:txBody>
                    <a:bodyPr/>
                    <a:lstStyle/>
                    <a:p/>
                  </a:txBody>
                  <a:tcPr/>
                </a:tc>
              </a:tr>
              <a:tr h="411480">
                <a:tc>
                  <a:txBody>
                    <a:bodyPr/>
                    <a:lstStyle/>
                    <a:p>
                      <a:r>
                        <a:rPr sz="1100"/>
                        <a:t>Mid-market deal closes</a:t>
                      </a:r>
                    </a:p>
                  </a:txBody>
                  <a:tcPr/>
                </a:tc>
                <a:tc>
                  <a:txBody>
                    <a:bodyPr/>
                    <a:lstStyle/>
                    <a:p>
                      <a:r>
                        <a:rPr sz="1100"/>
                        <a:t>Month 18</a:t>
                      </a:r>
                    </a:p>
                  </a:txBody>
                  <a:tcPr/>
                </a:tc>
                <a:tc>
                  <a:txBody>
                    <a:bodyPr/>
                    <a:lstStyle/>
                    <a:p>
                      <a:r>
                        <a:rPr sz="1100"/>
                        <a:t>$15k+ MRR from one tenant</a:t>
                      </a:r>
                    </a:p>
                  </a:txBody>
                  <a:tcPr/>
                </a:tc>
                <a:tc>
                  <a:txBody>
                    <a:bodyPr/>
                    <a:lstStyle/>
                    <a:p/>
                  </a:txBody>
                  <a:tcPr/>
                </a:tc>
                <a:tc>
                  <a:txBody>
                    <a:bodyPr/>
                    <a:lstStyle/>
                    <a:p/>
                  </a:txBody>
                  <a:tcPr/>
                </a:tc>
              </a:tr>
              <a:tr h="411480">
                <a:tc>
                  <a:txBody>
                    <a:bodyPr/>
                    <a:lstStyle/>
                    <a:p>
                      <a:r>
                        <a:rPr sz="1100"/>
                        <a:t>$100k MRR</a:t>
                      </a:r>
                    </a:p>
                  </a:txBody>
                  <a:tcPr/>
                </a:tc>
                <a:tc>
                  <a:txBody>
                    <a:bodyPr/>
                    <a:lstStyle/>
                    <a:p>
                      <a:r>
                        <a:rPr sz="1100"/>
                        <a:t>Month 24–30</a:t>
                      </a:r>
                    </a:p>
                  </a:txBody>
                  <a:tcPr/>
                </a:tc>
                <a:tc>
                  <a:txBody>
                    <a:bodyPr/>
                    <a:lstStyle/>
                    <a:p>
                      <a:r>
                        <a:rPr sz="1100"/>
                        <a:t>Mix of ~50 B2B tenants and ~1k B2C Pro</a:t>
                      </a:r>
                    </a:p>
                  </a:txBody>
                  <a:tcPr/>
                </a:tc>
                <a:tc>
                  <a:txBody>
                    <a:bodyPr/>
                    <a:lstStyle/>
                    <a:p/>
                  </a:txBody>
                  <a:tcPr/>
                </a:tc>
                <a:tc>
                  <a:txBody>
                    <a:bodyPr/>
                    <a:lstStyle/>
                    <a:p/>
                  </a:txBody>
                  <a:tcPr/>
                </a:tc>
              </a:tr>
              <a:tr h="411480">
                <a:tc>
                  <a:txBody>
                    <a:bodyPr/>
                    <a:lstStyle/>
                    <a:p>
                      <a:r>
                        <a:rPr sz="1100"/>
                        <a:t>L2-Kirkpatrick proof: \</a:t>
                      </a:r>
                    </a:p>
                  </a:txBody>
                  <a:tcPr/>
                </a:tc>
                <a:tc>
                  <a:txBody>
                    <a:bodyPr/>
                    <a:lstStyle/>
                    <a:p>
                      <a:r>
                        <a:rPr sz="1100"/>
                        <a:t>calibration Δ\</a:t>
                      </a:r>
                    </a:p>
                  </a:txBody>
                  <a:tcPr/>
                </a:tc>
                <a:tc>
                  <a:txBody>
                    <a:bodyPr/>
                    <a:lstStyle/>
                    <a:p>
                      <a:r>
                        <a:rPr sz="1100"/>
                        <a:t>≤ 0.5 on shipped cohorts</a:t>
                      </a:r>
                    </a:p>
                  </a:txBody>
                  <a:tcPr/>
                </a:tc>
                <a:tc>
                  <a:txBody>
                    <a:bodyPr/>
                    <a:lstStyle/>
                    <a:p>
                      <a:r>
                        <a:rPr sz="1100"/>
                        <a:t>Month 12+</a:t>
                      </a:r>
                    </a:p>
                  </a:txBody>
                  <a:tcPr/>
                </a:tc>
                <a:tc>
                  <a:txBody>
                    <a:bodyPr/>
                    <a:lstStyle/>
                    <a:p>
                      <a:r>
                        <a:rPr sz="1100"/>
                        <a:t>The pedagogical claim becomes testable, not aspirational</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Risks the investor should evaluate</a:t>
            </a:r>
          </a:p>
        </p:txBody>
      </p:sp>
      <p:sp>
        <p:nvSpPr>
          <p:cNvPr id="3" name="TextBox 2"/>
          <p:cNvSpPr txBox="1"/>
          <p:nvPr/>
        </p:nvSpPr>
        <p:spPr>
          <a:xfrm>
            <a:off x="457200" y="1280160"/>
            <a:ext cx="11247120" cy="5303520"/>
          </a:xfrm>
          <a:prstGeom prst="rect">
            <a:avLst/>
          </a:prstGeom>
          <a:noFill/>
        </p:spPr>
        <p:txBody>
          <a:bodyPr wrap="square">
            <a:spAutoFit/>
          </a:bodyPr>
          <a:lstStyle/>
          <a:p/>
        </p:txBody>
      </p:sp>
      <p:graphicFrame>
        <p:nvGraphicFramePr>
          <p:cNvPr id="4" name="Table 3"/>
          <p:cNvGraphicFramePr>
            <a:graphicFrameLocks noGrp="1"/>
          </p:cNvGraphicFramePr>
          <p:nvPr/>
        </p:nvGraphicFramePr>
        <p:xfrm>
          <a:off x="457200" y="1828800"/>
          <a:ext cx="11247120" cy="2880360"/>
        </p:xfrm>
        <a:graphic>
          <a:graphicData uri="http://schemas.openxmlformats.org/drawingml/2006/table">
            <a:tbl>
              <a:tblPr firstRow="1" bandRow="1">
                <a:tableStyleId>{5C22544A-7EE6-4342-B048-85BDC9FD1C3A}</a:tableStyleId>
              </a:tblPr>
              <a:tblGrid>
                <a:gridCol w="5623560"/>
                <a:gridCol w="5623560"/>
              </a:tblGrid>
              <a:tr h="411480">
                <a:tc>
                  <a:txBody>
                    <a:bodyPr/>
                    <a:lstStyle/>
                    <a:p>
                      <a:r>
                        <a:rPr sz="1100" b="1">
                          <a:solidFill>
                            <a:srgbClr val="FFFFFF"/>
                          </a:solidFill>
                        </a:rPr>
                        <a:t>Risk</a:t>
                      </a:r>
                    </a:p>
                  </a:txBody>
                  <a:tcPr>
                    <a:solidFill>
                      <a:srgbClr val="1A1A2E"/>
                    </a:solidFill>
                  </a:tcPr>
                </a:tc>
                <a:tc>
                  <a:txBody>
                    <a:bodyPr/>
                    <a:lstStyle/>
                    <a:p>
                      <a:r>
                        <a:rPr sz="1100" b="1">
                          <a:solidFill>
                            <a:srgbClr val="FFFFFF"/>
                          </a:solidFill>
                        </a:rPr>
                        <a:t>Mitigation</a:t>
                      </a:r>
                    </a:p>
                  </a:txBody>
                  <a:tcPr>
                    <a:solidFill>
                      <a:srgbClr val="1A1A2E"/>
                    </a:solidFill>
                  </a:tcPr>
                </a:tc>
              </a:tr>
              <a:tr h="411480">
                <a:tc>
                  <a:txBody>
                    <a:bodyPr/>
                    <a:lstStyle/>
                    <a:p>
                      <a:r>
                        <a:rPr sz="1100"/>
                        <a:t>Founder bandwidth — solo operator, side-bet shape</a:t>
                      </a:r>
                    </a:p>
                  </a:txBody>
                  <a:tcPr/>
                </a:tc>
                <a:tc>
                  <a:txBody>
                    <a:bodyPr/>
                    <a:lstStyle/>
                    <a:p>
                      <a:r>
                        <a:rPr sz="1100"/>
                        <a:t>Phase 1 designed for ~18 days of build; Phase 2 staffs only after revenue exists</a:t>
                      </a:r>
                    </a:p>
                  </a:txBody>
                  <a:tcPr/>
                </a:tc>
              </a:tr>
              <a:tr h="411480">
                <a:tc>
                  <a:txBody>
                    <a:bodyPr/>
                    <a:lstStyle/>
                    <a:p>
                      <a:r>
                        <a:rPr sz="1100"/>
                        <a:t>AI cost spirals at scale</a:t>
                      </a:r>
                    </a:p>
                  </a:txBody>
                  <a:tcPr/>
                </a:tc>
                <a:tc>
                  <a:txBody>
                    <a:bodyPr/>
                    <a:lstStyle/>
                    <a:p>
                      <a:r>
                        <a:rPr sz="1100"/>
                        <a:t>Per-tenant monthly token budget, server-enforced, with UI burn meter</a:t>
                      </a:r>
                    </a:p>
                  </a:txBody>
                  <a:tcPr/>
                </a:tc>
              </a:tr>
              <a:tr h="411480">
                <a:tc>
                  <a:txBody>
                    <a:bodyPr/>
                    <a:lstStyle/>
                    <a:p>
                      <a:r>
                        <a:rPr sz="1100"/>
                        <a:t>Quality incident reaches a learner</a:t>
                      </a:r>
                    </a:p>
                  </a:txBody>
                  <a:tcPr/>
                </a:tc>
                <a:tc>
                  <a:txBody>
                    <a:bodyPr/>
                    <a:lstStyle/>
                    <a:p>
                      <a:r>
                        <a:rPr sz="1100"/>
                        <a:t>23-failure-mode validator + Opus critic + post-publish signals + pause-not-pull</a:t>
                      </a:r>
                    </a:p>
                  </a:txBody>
                  <a:tcPr/>
                </a:tc>
              </a:tr>
              <a:tr h="411480">
                <a:tc>
                  <a:txBody>
                    <a:bodyPr/>
                    <a:lstStyle/>
                    <a:p>
                      <a:r>
                        <a:rPr sz="1100"/>
                        <a:t>Enterprise won't accept AI content</a:t>
                      </a:r>
                    </a:p>
                  </a:txBody>
                  <a:tcPr/>
                </a:tc>
                <a:tc>
                  <a:txBody>
                    <a:bodyPr/>
                    <a:lstStyle/>
                    <a:p>
                      <a:r>
                        <a:rPr sz="1100"/>
                        <a:t>B2B default = human-required; auto-publish is opt-in only</a:t>
                      </a:r>
                    </a:p>
                  </a:txBody>
                  <a:tcPr/>
                </a:tc>
              </a:tr>
              <a:tr h="411480">
                <a:tc>
                  <a:txBody>
                    <a:bodyPr/>
                    <a:lstStyle/>
                    <a:p>
                      <a:r>
                        <a:rPr sz="1100"/>
                        <a:t>Vendor dependency (Anthropic, Clerk, etc.)</a:t>
                      </a:r>
                    </a:p>
                  </a:txBody>
                  <a:tcPr/>
                </a:tc>
                <a:tc>
                  <a:txBody>
                    <a:bodyPr/>
                    <a:lstStyle/>
                    <a:p>
                      <a:r>
                        <a:rPr sz="1100"/>
                        <a:t>Data shapes are portable; cross-vendor critic is a v2 escape hatch</a:t>
                      </a:r>
                    </a:p>
                  </a:txBody>
                  <a:tcPr/>
                </a:tc>
              </a:tr>
              <a:tr h="411480">
                <a:tc>
                  <a:txBody>
                    <a:bodyPr/>
                    <a:lstStyle/>
                    <a:p>
                      <a:r>
                        <a:rPr sz="1100"/>
                        <a:t>TAM is overstated</a:t>
                      </a:r>
                    </a:p>
                  </a:txBody>
                  <a:tcPr/>
                </a:tc>
                <a:tc>
                  <a:txBody>
                    <a:bodyPr/>
                    <a:lstStyle/>
                    <a:p>
                      <a:r>
                        <a:rPr sz="1100"/>
                        <a:t>Even 0.05% share of corporate compliance L&amp;D = $25M ARR; we don't need a category-king outcome</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What we're asking for</a:t>
            </a:r>
          </a:p>
        </p:txBody>
      </p:sp>
      <p:sp>
        <p:nvSpPr>
          <p:cNvPr id="3" name="TextBox 2"/>
          <p:cNvSpPr txBox="1"/>
          <p:nvPr/>
        </p:nvSpPr>
        <p:spPr>
          <a:xfrm>
            <a:off x="457200" y="1280160"/>
            <a:ext cx="11247120" cy="5303520"/>
          </a:xfrm>
          <a:prstGeom prst="rect">
            <a:avLst/>
          </a:prstGeom>
          <a:noFill/>
        </p:spPr>
        <p:txBody>
          <a:bodyPr wrap="square">
            <a:spAutoFit/>
          </a:bodyPr>
          <a:lstStyle/>
          <a:p>
            <a:pPr algn="l">
              <a:spcAft>
                <a:spcPts val="800"/>
              </a:spcAft>
            </a:pPr>
            <a:r>
              <a:rPr sz="1800"/>
              <a:t>Not raising capital. This deck is for advisors and warm intros, not investors yet.</a:t>
            </a:r>
          </a:p>
          <a:p>
            <a:pPr algn="l">
              <a:spcAft>
                <a:spcPts val="800"/>
              </a:spcAft>
            </a:pPr>
            <a:r>
              <a:rPr sz="1800"/>
              <a:t>What helps right now:</a:t>
            </a:r>
          </a:p>
          <a:p>
            <a:pPr/>
            <a:r>
              <a:rPr sz="1600"/>
              <a:t>Honest critique of the two-phase strategy and the Phase 1 success metric.</a:t>
            </a:r>
          </a:p>
          <a:p>
            <a:pPr/>
            <a:r>
              <a:rPr sz="1600"/>
              <a:t>B2B prospect intros — anyone with HR / L&amp;D buying authority at SMB / mid-market.</a:t>
            </a:r>
          </a:p>
          <a:p>
            <a:pPr/>
            <a:r>
              <a:rPr sz="1600"/>
              <a:t>Reality check on pricing — does the $5–15/seat range hold for your network?</a:t>
            </a:r>
          </a:p>
          <a:p>
            <a:pPr>
              <a:spcAft>
                <a:spcPts val="600"/>
              </a:spcAft>
            </a:pPr>
            <a:r>
              <a:rPr sz="1600"/>
              <a:t>Once Phase 1 hits the success gate, intros to seed-stage SaaS investors who back capital-efficient founders.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In one sentence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600"/>
              </a:spcAft>
            </a:pPr>
            <a:r>
              <a:rPr sz="1800" i="1">
                <a:solidFill>
                  <a:srgbClr val="4A4A6E"/>
                </a:solidFill>
              </a:rPr>
              <a:t>We've designed a SaaS that proves people will pay for it before we spend a dollar on the expensive part — and we have a moat (the validator + HITL loop) that's already half-built in a personal repo.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sz="2800" b="1">
                <a:solidFill>
                  <a:srgbClr val="1A1A2E"/>
                </a:solidFill>
              </a:rPr>
              <a:t>Appendix — fast facts</a:t>
            </a:r>
          </a:p>
        </p:txBody>
      </p:sp>
      <p:sp>
        <p:nvSpPr>
          <p:cNvPr id="3" name="TextBox 2"/>
          <p:cNvSpPr txBox="1"/>
          <p:nvPr/>
        </p:nvSpPr>
        <p:spPr>
          <a:xfrm>
            <a:off x="457200" y="1280160"/>
            <a:ext cx="11247120" cy="5303520"/>
          </a:xfrm>
          <a:prstGeom prst="rect">
            <a:avLst/>
          </a:prstGeom>
          <a:noFill/>
        </p:spPr>
        <p:txBody>
          <a:bodyPr wrap="square">
            <a:spAutoFit/>
          </a:bodyPr>
          <a:lstStyle/>
          <a:p>
            <a:pPr/>
            <a:r>
              <a:rPr sz="1600"/>
              <a:t>Status: pre-launch; Phase 1 build in progress.</a:t>
            </a:r>
          </a:p>
          <a:p>
            <a:pPr/>
            <a:r>
              <a:rPr sz="1600"/>
              <a:t>Repo: existing CCA-F study tooling at /web/ (Next.js, Playwright, Vitest, content-pack runtime).</a:t>
            </a:r>
          </a:p>
          <a:p>
            <a:pPr/>
            <a:r>
              <a:rPr sz="1600"/>
              <a:t>Tech stack: Next.js, Postgres (Neon), Cloudflare R2, Clerk, Drizzle, Tailwind v4. No exotic stack.</a:t>
            </a:r>
          </a:p>
          <a:p>
            <a:pPr/>
            <a:r>
              <a:rPr sz="1600"/>
              <a:t>First-customer ask: $0 cash; 60-day pilot; success criteria mutually defined.</a:t>
            </a:r>
          </a:p>
          <a:p>
            <a:pPr>
              <a:spcAft>
                <a:spcPts val="600"/>
              </a:spcAft>
            </a:pPr>
            <a:r>
              <a:rPr sz="1600"/>
              <a:t>Detailed plan: ./content-pack-management-plan.md.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