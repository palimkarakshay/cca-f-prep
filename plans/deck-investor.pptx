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914400"/>
          </a:xfrm>
          <a:prstGeom prst="rect">
            <a:avLst/>
          </a:prstGeom>
          <a:noFill/>
        </p:spPr>
        <p:txBody>
          <a:bodyPr wrap="square">
            <a:spAutoFit/>
          </a:bodyPr>
          <a:lstStyle/>
          <a:p>
            <a:pPr algn="l"/>
            <a:r>
              <a:rPr sz="3400" b="1">
                <a:solidFill>
                  <a:srgbClr val="1A1A2E"/>
                </a:solidFill>
              </a:rPr>
              <a:t>Content Pack Management Platform — Investor / Advisor Brief</a:t>
            </a:r>
          </a:p>
        </p:txBody>
      </p:sp>
      <p:sp>
        <p:nvSpPr>
          <p:cNvPr id="3" name="TextBox 2"/>
          <p:cNvSpPr txBox="1"/>
          <p:nvPr/>
        </p:nvSpPr>
        <p:spPr>
          <a:xfrm>
            <a:off x="457200" y="1463040"/>
            <a:ext cx="11247120" cy="5120640"/>
          </a:xfrm>
          <a:prstGeom prst="rect">
            <a:avLst/>
          </a:prstGeom>
          <a:noFill/>
        </p:spPr>
        <p:txBody>
          <a:bodyPr wrap="square">
            <a:spAutoFit/>
          </a:bodyPr>
          <a:lstStyle/>
          <a:p>
            <a:pPr>
              <a:spcAft>
                <a:spcPts val="600"/>
              </a:spcAft>
            </a:pPr>
            <a:r>
              <a:rPr sz="1800" i="1">
                <a:solidFill>
                  <a:srgbClr val="4A4A6E"/>
                </a:solidFill>
              </a:rPr>
              <a:t>Slide-style brief for someone evaluating this as a venture-shaped business: angel investor, advisor, or experienced founder. Answers "is this a real business?", not "how does it work technically?". Slide breaks are marked by ---.
Companion docs: ./content-pack-management-plan.md, ./deck-overview.md, ./deck-b2b-prospect.md, ./deck-collaborator.md.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914400"/>
          </a:xfrm>
          <a:prstGeom prst="rect">
            <a:avLst/>
          </a:prstGeom>
          <a:noFill/>
        </p:spPr>
        <p:txBody>
          <a:bodyPr wrap="square">
            <a:spAutoFit/>
          </a:bodyPr>
          <a:lstStyle/>
          <a:p>
            <a:pPr algn="l"/>
            <a:r>
              <a:rPr sz="2800" b="1">
                <a:solidFill>
                  <a:srgbClr val="1A1A2E"/>
                </a:solidFill>
              </a:rPr>
              <a:t>Content Pack Management Platform</a:t>
            </a:r>
          </a:p>
        </p:txBody>
      </p:sp>
      <p:sp>
        <p:nvSpPr>
          <p:cNvPr id="3" name="TextBox 2"/>
          <p:cNvSpPr txBox="1"/>
          <p:nvPr/>
        </p:nvSpPr>
        <p:spPr>
          <a:xfrm>
            <a:off x="457200" y="1280160"/>
            <a:ext cx="11247120" cy="5303520"/>
          </a:xfrm>
          <a:prstGeom prst="rect">
            <a:avLst/>
          </a:prstGeom>
          <a:noFill/>
        </p:spPr>
        <p:txBody>
          <a:bodyPr wrap="square">
            <a:spAutoFit/>
          </a:bodyPr>
          <a:lstStyle/>
          <a:p>
            <a:pPr algn="l">
              <a:spcAft>
                <a:spcPts val="800"/>
              </a:spcAft>
            </a:pPr>
            <a:r>
              <a:rPr sz="1800"/>
              <a:t>A capital-efficient path to a vertical learning platform. Validated revenue intent before any AI cost is spent.</a:t>
            </a:r>
          </a:p>
          <a:p>
            <a:pPr algn="l">
              <a:spcAft>
                <a:spcPts val="800"/>
              </a:spcAft>
            </a:pPr>
            <a:r>
              <a:rPr sz="1800"/>
              <a:t>Stage: pre-launch • Operator: solo, hands-on • Built on existing CCA-F study repo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914400"/>
          </a:xfrm>
          <a:prstGeom prst="rect">
            <a:avLst/>
          </a:prstGeom>
          <a:noFill/>
        </p:spPr>
        <p:txBody>
          <a:bodyPr wrap="square">
            <a:spAutoFit/>
          </a:bodyPr>
          <a:lstStyle/>
          <a:p>
            <a:pPr algn="l"/>
            <a:r>
              <a:rPr sz="2800" b="1">
                <a:solidFill>
                  <a:srgbClr val="1A1A2E"/>
                </a:solidFill>
              </a:rPr>
              <a:t>The wedge</a:t>
            </a:r>
          </a:p>
        </p:txBody>
      </p:sp>
      <p:sp>
        <p:nvSpPr>
          <p:cNvPr id="3" name="TextBox 2"/>
          <p:cNvSpPr txBox="1"/>
          <p:nvPr/>
        </p:nvSpPr>
        <p:spPr>
          <a:xfrm>
            <a:off x="457200" y="1280160"/>
            <a:ext cx="11247120" cy="5303520"/>
          </a:xfrm>
          <a:prstGeom prst="rect">
            <a:avLst/>
          </a:prstGeom>
          <a:noFill/>
        </p:spPr>
        <p:txBody>
          <a:bodyPr wrap="square">
            <a:spAutoFit/>
          </a:bodyPr>
          <a:lstStyle/>
          <a:p>
            <a:pPr/>
            <a:r>
              <a:rPr sz="1600"/>
              <a:t>AI-generated learning content is everywhere — and most of it is bad enough to actively erode trust.</a:t>
            </a:r>
          </a:p>
          <a:p>
            <a:pPr/>
            <a:r>
              <a:rPr sz="1600"/>
              <a:t>Common failure modes are predictable: biased answer keys, fabricated facts, weak distractors, no source citation, mid-quiz spoilers.</a:t>
            </a:r>
          </a:p>
          <a:p>
            <a:pPr/>
            <a:r>
              <a:rPr sz="1600"/>
              <a:t>Buyers don't want raw model output. They want a quality story wrapped around it.</a:t>
            </a:r>
          </a:p>
          <a:p>
            <a:pPr>
              <a:spcAft>
                <a:spcPts val="600"/>
              </a:spcAft>
            </a:pPr>
            <a:r>
              <a:rPr sz="1600"/>
              <a:t>Whoever ships the quality story first owns the category.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914400"/>
          </a:xfrm>
          <a:prstGeom prst="rect">
            <a:avLst/>
          </a:prstGeom>
          <a:noFill/>
        </p:spPr>
        <p:txBody>
          <a:bodyPr wrap="square">
            <a:spAutoFit/>
          </a:bodyPr>
          <a:lstStyle/>
          <a:p>
            <a:pPr algn="l"/>
            <a:r>
              <a:rPr sz="2800" b="1">
                <a:solidFill>
                  <a:srgbClr val="1A1A2E"/>
                </a:solidFill>
              </a:rPr>
              <a:t>Why now</a:t>
            </a:r>
          </a:p>
        </p:txBody>
      </p:sp>
      <p:sp>
        <p:nvSpPr>
          <p:cNvPr id="3" name="TextBox 2"/>
          <p:cNvSpPr txBox="1"/>
          <p:nvPr/>
        </p:nvSpPr>
        <p:spPr>
          <a:xfrm>
            <a:off x="457200" y="1280160"/>
            <a:ext cx="11247120" cy="5303520"/>
          </a:xfrm>
          <a:prstGeom prst="rect">
            <a:avLst/>
          </a:prstGeom>
          <a:noFill/>
        </p:spPr>
        <p:txBody>
          <a:bodyPr wrap="square">
            <a:spAutoFit/>
          </a:bodyPr>
          <a:lstStyle/>
          <a:p>
            <a:pPr algn="l">
              <a:spcAft>
                <a:spcPts val="800"/>
              </a:spcAft>
            </a:pPr>
            <a:r>
              <a:rPr sz="1800"/>
              <a:t>Three lines of evidence converge in 2026:</a:t>
            </a:r>
          </a:p>
          <a:p>
            <a:pPr/>
            <a:r>
              <a:rPr sz="1600"/>
              <a:t>Model capability — Claude 4.x and GPT-5.x finally generate lessons that pass deterministic quality checks &gt; 80% of the time, not 30%. Two years ago this didn't work.</a:t>
            </a:r>
          </a:p>
          <a:p>
            <a:pPr/>
            <a:r>
              <a:rPr sz="1600"/>
              <a:t>Buyer fatigue — enterprises have run their first ChatGPT-as-LMS pilots. Most failed on quality / governance. They're now ready to pay for a managed solution.</a:t>
            </a:r>
          </a:p>
          <a:p>
            <a:pPr>
              <a:spcAft>
                <a:spcPts val="600"/>
              </a:spcAft>
            </a:pPr>
            <a:r>
              <a:rPr sz="1600"/>
              <a:t>Compliance friction — AI-content provenance and human-in-the-loop are becoming explicit procurement requirements (EU AI Act, internal AI policies). A product that has these baked in beats one that retrofits them.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914400"/>
          </a:xfrm>
          <a:prstGeom prst="rect">
            <a:avLst/>
          </a:prstGeom>
          <a:noFill/>
        </p:spPr>
        <p:txBody>
          <a:bodyPr wrap="square">
            <a:spAutoFit/>
          </a:bodyPr>
          <a:lstStyle/>
          <a:p>
            <a:pPr algn="l"/>
            <a:r>
              <a:rPr sz="2800" b="1">
                <a:solidFill>
                  <a:srgbClr val="1A1A2E"/>
                </a:solidFill>
              </a:rPr>
              <a:t>The product, one paragraph</a:t>
            </a:r>
          </a:p>
        </p:txBody>
      </p:sp>
      <p:sp>
        <p:nvSpPr>
          <p:cNvPr id="3" name="TextBox 2"/>
          <p:cNvSpPr txBox="1"/>
          <p:nvPr/>
        </p:nvSpPr>
        <p:spPr>
          <a:xfrm>
            <a:off x="457200" y="1280160"/>
            <a:ext cx="11247120" cy="5303520"/>
          </a:xfrm>
          <a:prstGeom prst="rect">
            <a:avLst/>
          </a:prstGeom>
          <a:noFill/>
        </p:spPr>
        <p:txBody>
          <a:bodyPr wrap="square">
            <a:spAutoFit/>
          </a:bodyPr>
          <a:lstStyle/>
          <a:p>
            <a:pPr algn="l">
              <a:spcAft>
                <a:spcPts val="800"/>
              </a:spcAft>
            </a:pPr>
            <a:r>
              <a:rPr sz="1800"/>
              <a:t>A learning platform with B2C and B2B tiers, where AI drafts content from operator-supplied knowledge files, deterministic validators catch a documented set of failure modes, a stronger reviewer model audits the drafter, and a human always approves before publish. Buyers get curated catalogs and the option to request topics; the platform learns from those requests.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914400"/>
          </a:xfrm>
          <a:prstGeom prst="rect">
            <a:avLst/>
          </a:prstGeom>
          <a:noFill/>
        </p:spPr>
        <p:txBody>
          <a:bodyPr wrap="square">
            <a:spAutoFit/>
          </a:bodyPr>
          <a:lstStyle/>
          <a:p>
            <a:pPr algn="l"/>
            <a:r>
              <a:rPr sz="2800" b="1">
                <a:solidFill>
                  <a:srgbClr val="1A1A2E"/>
                </a:solidFill>
              </a:rPr>
              <a:t>Two markets, same product</a:t>
            </a:r>
          </a:p>
        </p:txBody>
      </p:sp>
      <p:sp>
        <p:nvSpPr>
          <p:cNvPr id="3" name="TextBox 2"/>
          <p:cNvSpPr txBox="1"/>
          <p:nvPr/>
        </p:nvSpPr>
        <p:spPr>
          <a:xfrm>
            <a:off x="457200" y="1280160"/>
            <a:ext cx="11247120" cy="5303520"/>
          </a:xfrm>
          <a:prstGeom prst="rect">
            <a:avLst/>
          </a:prstGeom>
          <a:noFill/>
        </p:spPr>
        <p:txBody>
          <a:bodyPr wrap="square">
            <a:spAutoFit/>
          </a:bodyPr>
          <a:lstStyle/>
          <a:p/>
        </p:txBody>
      </p:sp>
      <p:graphicFrame>
        <p:nvGraphicFramePr>
          <p:cNvPr id="4" name="Table 3"/>
          <p:cNvGraphicFramePr>
            <a:graphicFrameLocks noGrp="1"/>
          </p:cNvGraphicFramePr>
          <p:nvPr/>
        </p:nvGraphicFramePr>
        <p:xfrm>
          <a:off x="457200" y="1828800"/>
          <a:ext cx="11247120" cy="2057400"/>
        </p:xfrm>
        <a:graphic>
          <a:graphicData uri="http://schemas.openxmlformats.org/drawingml/2006/table">
            <a:tbl>
              <a:tblPr firstRow="1" bandRow="1">
                <a:tableStyleId>{5C22544A-7EE6-4342-B048-85BDC9FD1C3A}</a:tableStyleId>
              </a:tblPr>
              <a:tblGrid>
                <a:gridCol w="3749040"/>
                <a:gridCol w="3749040"/>
                <a:gridCol w="3749040"/>
              </a:tblGrid>
              <a:tr h="411480">
                <a:tc>
                  <a:txBody>
                    <a:bodyPr/>
                    <a:lstStyle/>
                    <a:p/>
                  </a:txBody>
                  <a:tcPr>
                    <a:solidFill>
                      <a:srgbClr val="1A1A2E"/>
                    </a:solidFill>
                  </a:tcPr>
                </a:tc>
                <a:tc>
                  <a:txBody>
                    <a:bodyPr/>
                    <a:lstStyle/>
                    <a:p>
                      <a:r>
                        <a:rPr sz="1100" b="1">
                          <a:solidFill>
                            <a:srgbClr val="FFFFFF"/>
                          </a:solidFill>
                        </a:rPr>
                        <a:t>B2C</a:t>
                      </a:r>
                    </a:p>
                  </a:txBody>
                  <a:tcPr>
                    <a:solidFill>
                      <a:srgbClr val="1A1A2E"/>
                    </a:solidFill>
                  </a:tcPr>
                </a:tc>
                <a:tc>
                  <a:txBody>
                    <a:bodyPr/>
                    <a:lstStyle/>
                    <a:p>
                      <a:r>
                        <a:rPr sz="1100" b="1">
                          <a:solidFill>
                            <a:srgbClr val="FFFFFF"/>
                          </a:solidFill>
                        </a:rPr>
                        <a:t>B2B</a:t>
                      </a:r>
                    </a:p>
                  </a:txBody>
                  <a:tcPr>
                    <a:solidFill>
                      <a:srgbClr val="1A1A2E"/>
                    </a:solidFill>
                  </a:tcPr>
                </a:tc>
              </a:tr>
              <a:tr h="411480">
                <a:tc>
                  <a:txBody>
                    <a:bodyPr/>
                    <a:lstStyle/>
                    <a:p>
                      <a:r>
                        <a:rPr sz="1100"/>
                        <a:t>Who</a:t>
                      </a:r>
                    </a:p>
                  </a:txBody>
                  <a:tcPr/>
                </a:tc>
                <a:tc>
                  <a:txBody>
                    <a:bodyPr/>
                    <a:lstStyle/>
                    <a:p>
                      <a:r>
                        <a:rPr sz="1100"/>
                        <a:t>Self-directed learners (cert candidates, hobbyists)</a:t>
                      </a:r>
                    </a:p>
                  </a:txBody>
                  <a:tcPr/>
                </a:tc>
                <a:tc>
                  <a:txBody>
                    <a:bodyPr/>
                    <a:lstStyle/>
                    <a:p>
                      <a:r>
                        <a:rPr sz="1100"/>
                        <a:t>SMB and mid-market HR / L&amp;D</a:t>
                      </a:r>
                    </a:p>
                  </a:txBody>
                  <a:tcPr/>
                </a:tc>
              </a:tr>
              <a:tr h="411480">
                <a:tc>
                  <a:txBody>
                    <a:bodyPr/>
                    <a:lstStyle/>
                    <a:p>
                      <a:r>
                        <a:rPr sz="1100"/>
                        <a:t>Pricing</a:t>
                      </a:r>
                    </a:p>
                  </a:txBody>
                  <a:tcPr/>
                </a:tc>
                <a:tc>
                  <a:txBody>
                    <a:bodyPr/>
                    <a:lstStyle/>
                    <a:p>
                      <a:r>
                        <a:rPr sz="1100"/>
                        <a:t>$9/mo Pro on top of free tier</a:t>
                      </a:r>
                    </a:p>
                  </a:txBody>
                  <a:tcPr/>
                </a:tc>
                <a:tc>
                  <a:txBody>
                    <a:bodyPr/>
                    <a:lstStyle/>
                    <a:p>
                      <a:r>
                        <a:rPr sz="1100"/>
                        <a:t>$5–15 per learner per month, $100/mo platform minimum</a:t>
                      </a:r>
                    </a:p>
                  </a:txBody>
                  <a:tcPr/>
                </a:tc>
              </a:tr>
              <a:tr h="411480">
                <a:tc>
                  <a:txBody>
                    <a:bodyPr/>
                    <a:lstStyle/>
                    <a:p>
                      <a:r>
                        <a:rPr sz="1100"/>
                        <a:t>Why they pay</a:t>
                      </a:r>
                    </a:p>
                  </a:txBody>
                  <a:tcPr/>
                </a:tc>
                <a:tc>
                  <a:txBody>
                    <a:bodyPr/>
                    <a:lstStyle/>
                    <a:p>
                      <a:r>
                        <a:rPr sz="1100"/>
                        <a:t>Topic-on-demand, quizzes that aren't trash</a:t>
                      </a:r>
                    </a:p>
                  </a:txBody>
                  <a:tcPr/>
                </a:tc>
                <a:tc>
                  <a:txBody>
                    <a:bodyPr/>
                    <a:lstStyle/>
                    <a:p>
                      <a:r>
                        <a:rPr sz="1100"/>
                        <a:t>SME-reviewed material, SSO, lower TCO than custom-build</a:t>
                      </a:r>
                    </a:p>
                  </a:txBody>
                  <a:tcPr/>
                </a:tc>
              </a:tr>
              <a:tr h="411480">
                <a:tc>
                  <a:txBody>
                    <a:bodyPr/>
                    <a:lstStyle/>
                    <a:p>
                      <a:r>
                        <a:rPr sz="1100"/>
                        <a:t>CAC channel</a:t>
                      </a:r>
                    </a:p>
                  </a:txBody>
                  <a:tcPr/>
                </a:tc>
                <a:tc>
                  <a:txBody>
                    <a:bodyPr/>
                    <a:lstStyle/>
                    <a:p>
                      <a:r>
                        <a:rPr sz="1100"/>
                        <a:t>SEO + content marketing</a:t>
                      </a:r>
                    </a:p>
                  </a:txBody>
                  <a:tcPr/>
                </a:tc>
                <a:tc>
                  <a:txBody>
                    <a:bodyPr/>
                    <a:lstStyle/>
                    <a:p>
                      <a:r>
                        <a:rPr sz="1100"/>
                        <a:t>Outbound + warm intros</a:t>
                      </a:r>
                    </a:p>
                  </a:txBody>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914400"/>
          </a:xfrm>
          <a:prstGeom prst="rect">
            <a:avLst/>
          </a:prstGeom>
          <a:noFill/>
        </p:spPr>
        <p:txBody>
          <a:bodyPr wrap="square">
            <a:spAutoFit/>
          </a:bodyPr>
          <a:lstStyle/>
          <a:p>
            <a:pPr algn="l"/>
            <a:r>
              <a:rPr sz="2800" b="1">
                <a:solidFill>
                  <a:srgbClr val="1A1A2E"/>
                </a:solidFill>
              </a:rPr>
              <a:t>Market size (rough)</a:t>
            </a:r>
          </a:p>
        </p:txBody>
      </p:sp>
      <p:sp>
        <p:nvSpPr>
          <p:cNvPr id="3" name="TextBox 2"/>
          <p:cNvSpPr txBox="1"/>
          <p:nvPr/>
        </p:nvSpPr>
        <p:spPr>
          <a:xfrm>
            <a:off x="457200" y="1280160"/>
            <a:ext cx="11247120" cy="5303520"/>
          </a:xfrm>
          <a:prstGeom prst="rect">
            <a:avLst/>
          </a:prstGeom>
          <a:noFill/>
        </p:spPr>
        <p:txBody>
          <a:bodyPr wrap="square">
            <a:spAutoFit/>
          </a:bodyPr>
          <a:lstStyle/>
          <a:p>
            <a:pPr/>
            <a:r>
              <a:rPr sz="1600"/>
              <a:t>TAM: global L&amp;D spend ~$370B/year.</a:t>
            </a:r>
          </a:p>
          <a:p>
            <a:pPr/>
            <a:r>
              <a:rPr sz="1600"/>
              <a:t>SAM: online certification + corporate compliance/onboarding ~$50B/year.</a:t>
            </a:r>
          </a:p>
          <a:p>
            <a:pPr>
              <a:spcAft>
                <a:spcPts val="600"/>
              </a:spcAft>
            </a:pPr>
            <a:r>
              <a:rPr sz="1600"/>
              <a:t>SOM (5-year): $50M–$500M slice of vertical-specific learning where off-the-shelf LMSs lose to topic-on-demand.</a:t>
            </a:r>
          </a:p>
          <a:p>
            <a:pPr algn="l">
              <a:spcAft>
                <a:spcPts val="800"/>
              </a:spcAft>
            </a:pPr>
            <a:r>
              <a:rPr sz="1800"/>
              <a:t>We don't need to win the whole market. A 0.05% share of SAM = $25M ARR.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914400"/>
          </a:xfrm>
          <a:prstGeom prst="rect">
            <a:avLst/>
          </a:prstGeom>
          <a:noFill/>
        </p:spPr>
        <p:txBody>
          <a:bodyPr wrap="square">
            <a:spAutoFit/>
          </a:bodyPr>
          <a:lstStyle/>
          <a:p>
            <a:pPr algn="l"/>
            <a:r>
              <a:rPr sz="2800" b="1">
                <a:solidFill>
                  <a:srgbClr val="1A1A2E"/>
                </a:solidFill>
              </a:rPr>
              <a:t>Business model &amp; unit economics</a:t>
            </a:r>
          </a:p>
        </p:txBody>
      </p:sp>
      <p:sp>
        <p:nvSpPr>
          <p:cNvPr id="3" name="TextBox 2"/>
          <p:cNvSpPr txBox="1"/>
          <p:nvPr/>
        </p:nvSpPr>
        <p:spPr>
          <a:xfrm>
            <a:off x="457200" y="1280160"/>
            <a:ext cx="11247120" cy="5303520"/>
          </a:xfrm>
          <a:prstGeom prst="rect">
            <a:avLst/>
          </a:prstGeom>
          <a:noFill/>
        </p:spPr>
        <p:txBody>
          <a:bodyPr wrap="square">
            <a:spAutoFit/>
          </a:bodyPr>
          <a:lstStyle/>
          <a:p>
            <a:pPr/>
            <a:r>
              <a:rPr sz="1600"/>
              <a:t>Gross margin: &gt; 95% at modest scale (combined ~$34k MRR vs ~$600/mo infra + AI).</a:t>
            </a:r>
          </a:p>
          <a:p>
            <a:pPr/>
            <a:r>
              <a:rPr sz="1600"/>
              <a:t>AI cost line scales with generations, not learners — the safety belt is per-tenant monthly token budgets, server-enforced.</a:t>
            </a:r>
          </a:p>
          <a:p>
            <a:pPr/>
            <a:r>
              <a:rPr sz="1600"/>
              <a:t>CAC payback: B2C ~3 months at $9/mo and ~$25 CAC; B2B varies by deal size, target &lt; 12 months.</a:t>
            </a:r>
          </a:p>
          <a:p>
            <a:pPr>
              <a:spcAft>
                <a:spcPts val="600"/>
              </a:spcAft>
            </a:pPr>
            <a:r>
              <a:rPr sz="1600"/>
              <a:t>No data sales, no third-party advertising. Revenue = subscriptions only.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914400"/>
          </a:xfrm>
          <a:prstGeom prst="rect">
            <a:avLst/>
          </a:prstGeom>
          <a:noFill/>
        </p:spPr>
        <p:txBody>
          <a:bodyPr wrap="square">
            <a:spAutoFit/>
          </a:bodyPr>
          <a:lstStyle/>
          <a:p>
            <a:pPr algn="l"/>
            <a:r>
              <a:rPr sz="2800" b="1">
                <a:solidFill>
                  <a:srgbClr val="1A1A2E"/>
                </a:solidFill>
              </a:rPr>
              <a:t>The capital-efficient strategy</a:t>
            </a:r>
          </a:p>
        </p:txBody>
      </p:sp>
      <p:sp>
        <p:nvSpPr>
          <p:cNvPr id="3" name="TextBox 2"/>
          <p:cNvSpPr txBox="1"/>
          <p:nvPr/>
        </p:nvSpPr>
        <p:spPr>
          <a:xfrm>
            <a:off x="457200" y="1280160"/>
            <a:ext cx="11247120" cy="5303520"/>
          </a:xfrm>
          <a:prstGeom prst="rect">
            <a:avLst/>
          </a:prstGeom>
          <a:noFill/>
        </p:spPr>
        <p:txBody>
          <a:bodyPr wrap="square">
            <a:spAutoFit/>
          </a:bodyPr>
          <a:lstStyle/>
          <a:p>
            <a:pPr algn="l">
              <a:spcAft>
                <a:spcPts val="800"/>
              </a:spcAft>
            </a:pPr>
            <a:r>
              <a:rPr sz="1800"/>
              <a:t>The key strategic move: separate the validation phase from the AI-cost phase.</a:t>
            </a:r>
          </a:p>
          <a:p>
            <a:pPr/>
            <a:r>
              <a:rPr sz="1600"/>
              <a:t>Phase 1 (POC, ~$0/mo): AI authoring done by the operator's local Claude Code (paid by existing Max 20x subscription). Web platform is delivery + admin only. No Anthropic API spend.</a:t>
            </a:r>
          </a:p>
          <a:p>
            <a:pPr>
              <a:spcAft>
                <a:spcPts val="600"/>
              </a:spcAft>
            </a:pPr>
            <a:r>
              <a:rPr sz="1600"/>
              <a:t>Phase 2 (Commercial, ~$450–1000/mo): Turn on in-app AI generation only after Phase 1 has produced paying intent.</a:t>
            </a:r>
          </a:p>
          <a:p>
            <a:pPr algn="l">
              <a:spcAft>
                <a:spcPts val="800"/>
              </a:spcAft>
            </a:pPr>
            <a:r>
              <a:rPr sz="1800"/>
              <a:t>This sidesteps the typical SaaS-AI failure mode: spending $50k+ on inference before knowing what people will pay.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914400"/>
          </a:xfrm>
          <a:prstGeom prst="rect">
            <a:avLst/>
          </a:prstGeom>
          <a:noFill/>
        </p:spPr>
        <p:txBody>
          <a:bodyPr wrap="square">
            <a:spAutoFit/>
          </a:bodyPr>
          <a:lstStyle/>
          <a:p>
            <a:pPr algn="l"/>
            <a:r>
              <a:rPr sz="2800" b="1">
                <a:solidFill>
                  <a:srgbClr val="1A1A2E"/>
                </a:solidFill>
              </a:rPr>
              <a:t>Phase 1 success metric — the gate to Phase 2</a:t>
            </a:r>
          </a:p>
        </p:txBody>
      </p:sp>
      <p:sp>
        <p:nvSpPr>
          <p:cNvPr id="3" name="TextBox 2"/>
          <p:cNvSpPr txBox="1"/>
          <p:nvPr/>
        </p:nvSpPr>
        <p:spPr>
          <a:xfrm>
            <a:off x="457200" y="1280160"/>
            <a:ext cx="11247120" cy="5303520"/>
          </a:xfrm>
          <a:prstGeom prst="rect">
            <a:avLst/>
          </a:prstGeom>
          <a:noFill/>
        </p:spPr>
        <p:txBody>
          <a:bodyPr wrap="square">
            <a:spAutoFit/>
          </a:bodyPr>
          <a:lstStyle/>
          <a:p>
            <a:pPr algn="l">
              <a:spcAft>
                <a:spcPts val="800"/>
              </a:spcAft>
            </a:pPr>
            <a:r>
              <a:rPr sz="1800"/>
              <a:t>Paying intent, measured directly:</a:t>
            </a:r>
          </a:p>
          <a:p>
            <a:pPr/>
            <a:r>
              <a:rPr sz="1600"/>
              <a:t>B2B target: 3 signed Letters of Intent.</a:t>
            </a:r>
          </a:p>
          <a:p>
            <a:pPr>
              <a:spcAft>
                <a:spcPts val="600"/>
              </a:spcAft>
            </a:pPr>
            <a:r>
              <a:rPr sz="1600"/>
              <a:t>B2C target: 50 waitlist signups + 10 refundable Stripe pre-orders ($9 each).</a:t>
            </a:r>
          </a:p>
          <a:p>
            <a:pPr algn="l">
              <a:spcAft>
                <a:spcPts val="800"/>
              </a:spcAft>
            </a:pPr>
            <a:r>
              <a:rPr sz="1800"/>
              <a:t>If Phase 1 doesn't hit these targets, Phase 2 doesn't get built. Hard gate.</a:t>
            </a:r>
          </a:p>
          <a:p>
            <a:pPr algn="l">
              <a:spcAft>
                <a:spcPts val="800"/>
              </a:spcAft>
            </a:pPr>
            <a:r>
              <a:rPr sz="1800"/>
              <a:t>This is the single most important slide in the deck. The discipline of not building the expensive part until paying intent is signed lives or dies on this gate being respected.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914400"/>
          </a:xfrm>
          <a:prstGeom prst="rect">
            <a:avLst/>
          </a:prstGeom>
          <a:noFill/>
        </p:spPr>
        <p:txBody>
          <a:bodyPr wrap="square">
            <a:spAutoFit/>
          </a:bodyPr>
          <a:lstStyle/>
          <a:p>
            <a:pPr algn="l"/>
            <a:r>
              <a:rPr sz="2800" b="1">
                <a:solidFill>
                  <a:srgbClr val="1A1A2E"/>
                </a:solidFill>
              </a:rPr>
              <a:t>Cost curve</a:t>
            </a:r>
          </a:p>
        </p:txBody>
      </p:sp>
      <p:sp>
        <p:nvSpPr>
          <p:cNvPr id="3" name="TextBox 2"/>
          <p:cNvSpPr txBox="1"/>
          <p:nvPr/>
        </p:nvSpPr>
        <p:spPr>
          <a:xfrm>
            <a:off x="457200" y="1280160"/>
            <a:ext cx="11247120" cy="5303520"/>
          </a:xfrm>
          <a:prstGeom prst="rect">
            <a:avLst/>
          </a:prstGeom>
          <a:noFill/>
        </p:spPr>
        <p:txBody>
          <a:bodyPr wrap="square">
            <a:spAutoFit/>
          </a:bodyPr>
          <a:lstStyle/>
          <a:p>
            <a:pPr algn="l">
              <a:spcAft>
                <a:spcPts val="800"/>
              </a:spcAft>
            </a:pPr>
            <a:r>
              <a:rPr sz="1800"/>
              <a:t>The graph is essentially flat-zero, then a step to ~$500, then linear-with-revenue.</a:t>
            </a:r>
          </a:p>
        </p:txBody>
      </p:sp>
      <p:graphicFrame>
        <p:nvGraphicFramePr>
          <p:cNvPr id="4" name="Table 3"/>
          <p:cNvGraphicFramePr>
            <a:graphicFrameLocks noGrp="1"/>
          </p:cNvGraphicFramePr>
          <p:nvPr/>
        </p:nvGraphicFramePr>
        <p:xfrm>
          <a:off x="457200" y="1828800"/>
          <a:ext cx="11247120" cy="1645920"/>
        </p:xfrm>
        <a:graphic>
          <a:graphicData uri="http://schemas.openxmlformats.org/drawingml/2006/table">
            <a:tbl>
              <a:tblPr firstRow="1" bandRow="1">
                <a:tableStyleId>{5C22544A-7EE6-4342-B048-85BDC9FD1C3A}</a:tableStyleId>
              </a:tblPr>
              <a:tblGrid>
                <a:gridCol w="3749040"/>
                <a:gridCol w="3749040"/>
                <a:gridCol w="3749040"/>
              </a:tblGrid>
              <a:tr h="411480">
                <a:tc>
                  <a:txBody>
                    <a:bodyPr/>
                    <a:lstStyle/>
                    <a:p>
                      <a:r>
                        <a:rPr sz="1100" b="1">
                          <a:solidFill>
                            <a:srgbClr val="FFFFFF"/>
                          </a:solidFill>
                        </a:rPr>
                        <a:t>Phase</a:t>
                      </a:r>
                    </a:p>
                  </a:txBody>
                  <a:tcPr>
                    <a:solidFill>
                      <a:srgbClr val="1A1A2E"/>
                    </a:solidFill>
                  </a:tcPr>
                </a:tc>
                <a:tc>
                  <a:txBody>
                    <a:bodyPr/>
                    <a:lstStyle/>
                    <a:p>
                      <a:r>
                        <a:rPr sz="1100" b="1">
                          <a:solidFill>
                            <a:srgbClr val="FFFFFF"/>
                          </a:solidFill>
                        </a:rPr>
                        <a:t>Monthly burn</a:t>
                      </a:r>
                    </a:p>
                  </a:txBody>
                  <a:tcPr>
                    <a:solidFill>
                      <a:srgbClr val="1A1A2E"/>
                    </a:solidFill>
                  </a:tcPr>
                </a:tc>
                <a:tc>
                  <a:txBody>
                    <a:bodyPr/>
                    <a:lstStyle/>
                    <a:p>
                      <a:r>
                        <a:rPr sz="1100" b="1">
                          <a:solidFill>
                            <a:srgbClr val="FFFFFF"/>
                          </a:solidFill>
                        </a:rPr>
                        <a:t>Months to ROI</a:t>
                      </a:r>
                    </a:p>
                  </a:txBody>
                  <a:tcPr>
                    <a:solidFill>
                      <a:srgbClr val="1A1A2E"/>
                    </a:solidFill>
                  </a:tcPr>
                </a:tc>
              </a:tr>
              <a:tr h="411480">
                <a:tc>
                  <a:txBody>
                    <a:bodyPr/>
                    <a:lstStyle/>
                    <a:p>
                      <a:r>
                        <a:rPr sz="1100"/>
                        <a:t>Phase 1 (POC)</a:t>
                      </a:r>
                    </a:p>
                  </a:txBody>
                  <a:tcPr/>
                </a:tc>
                <a:tc>
                  <a:txBody>
                    <a:bodyPr/>
                    <a:lstStyle/>
                    <a:p>
                      <a:r>
                        <a:rPr sz="1100"/>
                        <a:t>~$1</a:t>
                      </a:r>
                    </a:p>
                  </a:txBody>
                  <a:tcPr/>
                </a:tc>
                <a:tc>
                  <a:txBody>
                    <a:bodyPr/>
                    <a:lstStyle/>
                    <a:p>
                      <a:r>
                        <a:rPr sz="1100"/>
                        <a:t>N/A — no spend to recover</a:t>
                      </a:r>
                    </a:p>
                  </a:txBody>
                  <a:tcPr/>
                </a:tc>
              </a:tr>
              <a:tr h="411480">
                <a:tc>
                  <a:txBody>
                    <a:bodyPr/>
                    <a:lstStyle/>
                    <a:p>
                      <a:r>
                        <a:rPr sz="1100"/>
                        <a:t>Phase 2 launch</a:t>
                      </a:r>
                    </a:p>
                  </a:txBody>
                  <a:tcPr/>
                </a:tc>
                <a:tc>
                  <a:txBody>
                    <a:bodyPr/>
                    <a:lstStyle/>
                    <a:p>
                      <a:r>
                        <a:rPr sz="1100"/>
                        <a:t>~$450</a:t>
                      </a:r>
                    </a:p>
                  </a:txBody>
                  <a:tcPr/>
                </a:tc>
                <a:tc>
                  <a:txBody>
                    <a:bodyPr/>
                    <a:lstStyle/>
                    <a:p>
                      <a:r>
                        <a:rPr sz="1100"/>
                        <a:t>1–2 paying B2B tenants</a:t>
                      </a:r>
                    </a:p>
                  </a:txBody>
                  <a:tcPr/>
                </a:tc>
              </a:tr>
              <a:tr h="411480">
                <a:tc>
                  <a:txBody>
                    <a:bodyPr/>
                    <a:lstStyle/>
                    <a:p>
                      <a:r>
                        <a:rPr sz="1100"/>
                        <a:t>Phase 2 at 100 tenants</a:t>
                      </a:r>
                    </a:p>
                  </a:txBody>
                  <a:tcPr/>
                </a:tc>
                <a:tc>
                  <a:txBody>
                    <a:bodyPr/>
                    <a:lstStyle/>
                    <a:p>
                      <a:r>
                        <a:rPr sz="1100"/>
                        <a:t>~$1000</a:t>
                      </a:r>
                    </a:p>
                  </a:txBody>
                  <a:tcPr/>
                </a:tc>
                <a:tc>
                  <a:txBody>
                    <a:bodyPr/>
                    <a:lstStyle/>
                    <a:p>
                      <a:r>
                        <a:rPr sz="1100"/>
                        <a:t>&lt; 1 month at current pricing</a:t>
                      </a:r>
                    </a:p>
                  </a:txBody>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914400"/>
          </a:xfrm>
          <a:prstGeom prst="rect">
            <a:avLst/>
          </a:prstGeom>
          <a:noFill/>
        </p:spPr>
        <p:txBody>
          <a:bodyPr wrap="square">
            <a:spAutoFit/>
          </a:bodyPr>
          <a:lstStyle/>
          <a:p>
            <a:pPr algn="l"/>
            <a:r>
              <a:rPr sz="2800" b="1">
                <a:solidFill>
                  <a:srgbClr val="1A1A2E"/>
                </a:solidFill>
              </a:rPr>
              <a:t>Competitive landscape</a:t>
            </a:r>
          </a:p>
        </p:txBody>
      </p:sp>
      <p:sp>
        <p:nvSpPr>
          <p:cNvPr id="3" name="TextBox 2"/>
          <p:cNvSpPr txBox="1"/>
          <p:nvPr/>
        </p:nvSpPr>
        <p:spPr>
          <a:xfrm>
            <a:off x="457200" y="1280160"/>
            <a:ext cx="11247120" cy="5303520"/>
          </a:xfrm>
          <a:prstGeom prst="rect">
            <a:avLst/>
          </a:prstGeom>
          <a:noFill/>
        </p:spPr>
        <p:txBody>
          <a:bodyPr wrap="square">
            <a:spAutoFit/>
          </a:bodyPr>
          <a:lstStyle/>
          <a:p/>
        </p:txBody>
      </p:sp>
      <p:graphicFrame>
        <p:nvGraphicFramePr>
          <p:cNvPr id="4" name="Table 3"/>
          <p:cNvGraphicFramePr>
            <a:graphicFrameLocks noGrp="1"/>
          </p:cNvGraphicFramePr>
          <p:nvPr/>
        </p:nvGraphicFramePr>
        <p:xfrm>
          <a:off x="457200" y="1828800"/>
          <a:ext cx="11247120" cy="2057400"/>
        </p:xfrm>
        <a:graphic>
          <a:graphicData uri="http://schemas.openxmlformats.org/drawingml/2006/table">
            <a:tbl>
              <a:tblPr firstRow="1" bandRow="1">
                <a:tableStyleId>{5C22544A-7EE6-4342-B048-85BDC9FD1C3A}</a:tableStyleId>
              </a:tblPr>
              <a:tblGrid>
                <a:gridCol w="3749040"/>
                <a:gridCol w="3749040"/>
                <a:gridCol w="3749040"/>
              </a:tblGrid>
              <a:tr h="411480">
                <a:tc>
                  <a:txBody>
                    <a:bodyPr/>
                    <a:lstStyle/>
                    <a:p>
                      <a:r>
                        <a:rPr sz="1100" b="1">
                          <a:solidFill>
                            <a:srgbClr val="FFFFFF"/>
                          </a:solidFill>
                        </a:rPr>
                        <a:t>Competitor</a:t>
                      </a:r>
                    </a:p>
                  </a:txBody>
                  <a:tcPr>
                    <a:solidFill>
                      <a:srgbClr val="1A1A2E"/>
                    </a:solidFill>
                  </a:tcPr>
                </a:tc>
                <a:tc>
                  <a:txBody>
                    <a:bodyPr/>
                    <a:lstStyle/>
                    <a:p>
                      <a:r>
                        <a:rPr sz="1100" b="1">
                          <a:solidFill>
                            <a:srgbClr val="FFFFFF"/>
                          </a:solidFill>
                        </a:rPr>
                        <a:t>Their angle</a:t>
                      </a:r>
                    </a:p>
                  </a:txBody>
                  <a:tcPr>
                    <a:solidFill>
                      <a:srgbClr val="1A1A2E"/>
                    </a:solidFill>
                  </a:tcPr>
                </a:tc>
                <a:tc>
                  <a:txBody>
                    <a:bodyPr/>
                    <a:lstStyle/>
                    <a:p>
                      <a:r>
                        <a:rPr sz="1100" b="1">
                          <a:solidFill>
                            <a:srgbClr val="FFFFFF"/>
                          </a:solidFill>
                        </a:rPr>
                        <a:t>Why we win</a:t>
                      </a:r>
                    </a:p>
                  </a:txBody>
                  <a:tcPr>
                    <a:solidFill>
                      <a:srgbClr val="1A1A2E"/>
                    </a:solidFill>
                  </a:tcPr>
                </a:tc>
              </a:tr>
              <a:tr h="411480">
                <a:tc>
                  <a:txBody>
                    <a:bodyPr/>
                    <a:lstStyle/>
                    <a:p>
                      <a:r>
                        <a:rPr sz="1100"/>
                        <a:t>Raw ChatGPT / Claude</a:t>
                      </a:r>
                    </a:p>
                  </a:txBody>
                  <a:tcPr/>
                </a:tc>
                <a:tc>
                  <a:txBody>
                    <a:bodyPr/>
                    <a:lstStyle/>
                    <a:p>
                      <a:r>
                        <a:rPr sz="1100"/>
                        <a:t>DIY, free</a:t>
                      </a:r>
                    </a:p>
                  </a:txBody>
                  <a:tcPr/>
                </a:tc>
                <a:tc>
                  <a:txBody>
                    <a:bodyPr/>
                    <a:lstStyle/>
                    <a:p>
                      <a:r>
                        <a:rPr sz="1100"/>
                        <a:t>We package validators, HITL, audit trail, RLS — buyers want managed</a:t>
                      </a:r>
                    </a:p>
                  </a:txBody>
                  <a:tcPr/>
                </a:tc>
              </a:tr>
              <a:tr h="411480">
                <a:tc>
                  <a:txBody>
                    <a:bodyPr/>
                    <a:lstStyle/>
                    <a:p>
                      <a:r>
                        <a:rPr sz="1100"/>
                        <a:t>Cornerstone, Litmos, Docebo</a:t>
                      </a:r>
                    </a:p>
                  </a:txBody>
                  <a:tcPr/>
                </a:tc>
                <a:tc>
                  <a:txBody>
                    <a:bodyPr/>
                    <a:lstStyle/>
                    <a:p>
                      <a:r>
                        <a:rPr sz="1100"/>
                        <a:t>Traditional LMS, curated catalog</a:t>
                      </a:r>
                    </a:p>
                  </a:txBody>
                  <a:tcPr/>
                </a:tc>
                <a:tc>
                  <a:txBody>
                    <a:bodyPr/>
                    <a:lstStyle/>
                    <a:p>
                      <a:r>
                        <a:rPr sz="1100"/>
                        <a:t>We let buyers request topics on-demand; AI-drafted, expert-reviewed</a:t>
                      </a:r>
                    </a:p>
                  </a:txBody>
                  <a:tcPr/>
                </a:tc>
              </a:tr>
              <a:tr h="411480">
                <a:tc>
                  <a:txBody>
                    <a:bodyPr/>
                    <a:lstStyle/>
                    <a:p>
                      <a:r>
                        <a:rPr sz="1100"/>
                        <a:t>Skilljar, Thinkific</a:t>
                      </a:r>
                    </a:p>
                  </a:txBody>
                  <a:tcPr/>
                </a:tc>
                <a:tc>
                  <a:txBody>
                    <a:bodyPr/>
                    <a:lstStyle/>
                    <a:p>
                      <a:r>
                        <a:rPr sz="1100"/>
                        <a:t>Author-and-publish platforms</a:t>
                      </a:r>
                    </a:p>
                  </a:txBody>
                  <a:tcPr/>
                </a:tc>
                <a:tc>
                  <a:txBody>
                    <a:bodyPr/>
                    <a:lstStyle/>
                    <a:p>
                      <a:r>
                        <a:rPr sz="1100"/>
                        <a:t>Same gap as LMSs — content is bring-your-own</a:t>
                      </a:r>
                    </a:p>
                  </a:txBody>
                  <a:tcPr/>
                </a:tc>
              </a:tr>
              <a:tr h="411480">
                <a:tc>
                  <a:txBody>
                    <a:bodyPr/>
                    <a:lstStyle/>
                    <a:p>
                      <a:r>
                        <a:rPr sz="1100"/>
                        <a:t>Hard-code-an-LMS-yourself startups</a:t>
                      </a:r>
                    </a:p>
                  </a:txBody>
                  <a:tcPr/>
                </a:tc>
                <a:tc>
                  <a:txBody>
                    <a:bodyPr/>
                    <a:lstStyle/>
                    <a:p>
                      <a:r>
                        <a:rPr sz="1100"/>
                        <a:t>Custom build per company</a:t>
                      </a:r>
                    </a:p>
                  </a:txBody>
                  <a:tcPr/>
                </a:tc>
                <a:tc>
                  <a:txBody>
                    <a:bodyPr/>
                    <a:lstStyle/>
                    <a:p>
                      <a:r>
                        <a:rPr sz="1100"/>
                        <a:t>$200k+ and 6 months; we offer 4 weeks and a pilot fee</a:t>
                      </a:r>
                    </a:p>
                  </a:txBody>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914400"/>
          </a:xfrm>
          <a:prstGeom prst="rect">
            <a:avLst/>
          </a:prstGeom>
          <a:noFill/>
        </p:spPr>
        <p:txBody>
          <a:bodyPr wrap="square">
            <a:spAutoFit/>
          </a:bodyPr>
          <a:lstStyle/>
          <a:p>
            <a:pPr algn="l"/>
            <a:r>
              <a:rPr sz="2800" b="1">
                <a:solidFill>
                  <a:srgbClr val="1A1A2E"/>
                </a:solidFill>
              </a:rPr>
              <a:t>The moat</a:t>
            </a:r>
          </a:p>
        </p:txBody>
      </p:sp>
      <p:sp>
        <p:nvSpPr>
          <p:cNvPr id="3" name="TextBox 2"/>
          <p:cNvSpPr txBox="1"/>
          <p:nvPr/>
        </p:nvSpPr>
        <p:spPr>
          <a:xfrm>
            <a:off x="457200" y="1280160"/>
            <a:ext cx="11247120" cy="5303520"/>
          </a:xfrm>
          <a:prstGeom prst="rect">
            <a:avLst/>
          </a:prstGeom>
          <a:noFill/>
        </p:spPr>
        <p:txBody>
          <a:bodyPr wrap="square">
            <a:spAutoFit/>
          </a:bodyPr>
          <a:lstStyle/>
          <a:p>
            <a:pPr algn="l">
              <a:spcAft>
                <a:spcPts val="800"/>
              </a:spcAft>
            </a:pPr>
            <a:r>
              <a:rPr sz="1800"/>
              <a:t>Not the lessons. Not the AI model. The quality loop.</a:t>
            </a:r>
          </a:p>
          <a:p>
            <a:pPr/>
            <a:r>
              <a:rPr sz="1600"/>
              <a:t>23 documented AI-content failure modes (catalogued in our existing CCA-F study repo's 06-failure-analysis/error-log.md).</a:t>
            </a:r>
          </a:p>
          <a:p>
            <a:pPr/>
            <a:r>
              <a:rPr sz="1600"/>
              <a:t>F1–F8 cognitive failure-mode taxonomy already in production use.</a:t>
            </a:r>
          </a:p>
          <a:p>
            <a:pPr/>
            <a:r>
              <a:rPr sz="1600"/>
              <a:t>Deterministic validators that run vendor-independent — works against any LLM.</a:t>
            </a:r>
          </a:p>
          <a:p>
            <a:pPr/>
            <a:r>
              <a:rPr sz="1600"/>
              <a:t>Opus-critiques-Sonnet reviewer architecture catches systematic blind spots.</a:t>
            </a:r>
          </a:p>
          <a:p>
            <a:pPr>
              <a:spcAft>
                <a:spcPts val="600"/>
              </a:spcAft>
            </a:pPr>
            <a:r>
              <a:rPr sz="1600"/>
              <a:t>Pause-not-pull post-publish quality signals.</a:t>
            </a:r>
          </a:p>
          <a:p>
            <a:pPr algn="l">
              <a:spcAft>
                <a:spcPts val="800"/>
              </a:spcAft>
            </a:pPr>
            <a:r>
              <a:rPr sz="1800"/>
              <a:t>These take months to invent and tune. We have them already.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914400"/>
          </a:xfrm>
          <a:prstGeom prst="rect">
            <a:avLst/>
          </a:prstGeom>
          <a:noFill/>
        </p:spPr>
        <p:txBody>
          <a:bodyPr wrap="square">
            <a:spAutoFit/>
          </a:bodyPr>
          <a:lstStyle/>
          <a:p>
            <a:pPr algn="l"/>
            <a:r>
              <a:rPr sz="2800" b="1">
                <a:solidFill>
                  <a:srgbClr val="1A1A2E"/>
                </a:solidFill>
              </a:rPr>
              <a:t>Founder fit</a:t>
            </a:r>
          </a:p>
        </p:txBody>
      </p:sp>
      <p:sp>
        <p:nvSpPr>
          <p:cNvPr id="3" name="TextBox 2"/>
          <p:cNvSpPr txBox="1"/>
          <p:nvPr/>
        </p:nvSpPr>
        <p:spPr>
          <a:xfrm>
            <a:off x="457200" y="1280160"/>
            <a:ext cx="11247120" cy="5303520"/>
          </a:xfrm>
          <a:prstGeom prst="rect">
            <a:avLst/>
          </a:prstGeom>
          <a:noFill/>
        </p:spPr>
        <p:txBody>
          <a:bodyPr wrap="square">
            <a:spAutoFit/>
          </a:bodyPr>
          <a:lstStyle/>
          <a:p>
            <a:pPr/>
            <a:r>
              <a:rPr sz="1600"/>
              <a:t>Senior developer (15+ years), structured-thinking-strong (ABAP background — schema and process discipline).</a:t>
            </a:r>
          </a:p>
          <a:p>
            <a:pPr/>
            <a:r>
              <a:rPr sz="1600"/>
              <a:t>Building from a real artifact: a personal CCA-F study repo with mock exams, error-log analytics, and the failure-mode taxonomy that becomes the platform's moat.</a:t>
            </a:r>
          </a:p>
          <a:p>
            <a:pPr/>
            <a:r>
              <a:rPr sz="1600"/>
              <a:t>Hands-on operator profile — comfortable doing all four of: write code, write content, write copy, talk to customers.</a:t>
            </a:r>
          </a:p>
          <a:p>
            <a:pPr>
              <a:spcAft>
                <a:spcPts val="600"/>
              </a:spcAft>
            </a:pPr>
            <a:r>
              <a:rPr sz="1600"/>
              <a:t>Day job is unrelated; this is a side bet, not a stake-everything-on-it situation. Right shape for capital-efficient validation, wrong shape for "fund-the-team-of-12."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914400"/>
          </a:xfrm>
          <a:prstGeom prst="rect">
            <a:avLst/>
          </a:prstGeom>
          <a:noFill/>
        </p:spPr>
        <p:txBody>
          <a:bodyPr wrap="square">
            <a:spAutoFit/>
          </a:bodyPr>
          <a:lstStyle/>
          <a:p>
            <a:pPr algn="l"/>
            <a:r>
              <a:rPr sz="2800" b="1">
                <a:solidFill>
                  <a:srgbClr val="1A1A2E"/>
                </a:solidFill>
              </a:rPr>
              <a:t>Roadmap to $100k MRR</a:t>
            </a:r>
          </a:p>
        </p:txBody>
      </p:sp>
      <p:sp>
        <p:nvSpPr>
          <p:cNvPr id="3" name="TextBox 2"/>
          <p:cNvSpPr txBox="1"/>
          <p:nvPr/>
        </p:nvSpPr>
        <p:spPr>
          <a:xfrm>
            <a:off x="457200" y="1280160"/>
            <a:ext cx="11247120" cy="5303520"/>
          </a:xfrm>
          <a:prstGeom prst="rect">
            <a:avLst/>
          </a:prstGeom>
          <a:noFill/>
        </p:spPr>
        <p:txBody>
          <a:bodyPr wrap="square">
            <a:spAutoFit/>
          </a:bodyPr>
          <a:lstStyle/>
          <a:p>
            <a:pPr algn="l">
              <a:spcAft>
                <a:spcPts val="800"/>
              </a:spcAft>
            </a:pPr>
            <a:r>
              <a:rPr sz="1800"/>
              <a:t>This is intentionally conservative. The unit economics support faster growth if a B2B reseller channel emerges.</a:t>
            </a:r>
          </a:p>
        </p:txBody>
      </p:sp>
      <p:graphicFrame>
        <p:nvGraphicFramePr>
          <p:cNvPr id="4" name="Table 3"/>
          <p:cNvGraphicFramePr>
            <a:graphicFrameLocks noGrp="1"/>
          </p:cNvGraphicFramePr>
          <p:nvPr/>
        </p:nvGraphicFramePr>
        <p:xfrm>
          <a:off x="457200" y="1828800"/>
          <a:ext cx="11247120" cy="2880360"/>
        </p:xfrm>
        <a:graphic>
          <a:graphicData uri="http://schemas.openxmlformats.org/drawingml/2006/table">
            <a:tbl>
              <a:tblPr firstRow="1" bandRow="1">
                <a:tableStyleId>{5C22544A-7EE6-4342-B048-85BDC9FD1C3A}</a:tableStyleId>
              </a:tblPr>
              <a:tblGrid>
                <a:gridCol w="3749040"/>
                <a:gridCol w="3749040"/>
                <a:gridCol w="3749040"/>
              </a:tblGrid>
              <a:tr h="411480">
                <a:tc>
                  <a:txBody>
                    <a:bodyPr/>
                    <a:lstStyle/>
                    <a:p>
                      <a:r>
                        <a:rPr sz="1100" b="1">
                          <a:solidFill>
                            <a:srgbClr val="FFFFFF"/>
                          </a:solidFill>
                        </a:rPr>
                        <a:t>Milestone</a:t>
                      </a:r>
                    </a:p>
                  </a:txBody>
                  <a:tcPr>
                    <a:solidFill>
                      <a:srgbClr val="1A1A2E"/>
                    </a:solidFill>
                  </a:tcPr>
                </a:tc>
                <a:tc>
                  <a:txBody>
                    <a:bodyPr/>
                    <a:lstStyle/>
                    <a:p>
                      <a:r>
                        <a:rPr sz="1100" b="1">
                          <a:solidFill>
                            <a:srgbClr val="FFFFFF"/>
                          </a:solidFill>
                        </a:rPr>
                        <a:t>When</a:t>
                      </a:r>
                    </a:p>
                  </a:txBody>
                  <a:tcPr>
                    <a:solidFill>
                      <a:srgbClr val="1A1A2E"/>
                    </a:solidFill>
                  </a:tcPr>
                </a:tc>
                <a:tc>
                  <a:txBody>
                    <a:bodyPr/>
                    <a:lstStyle/>
                    <a:p>
                      <a:r>
                        <a:rPr sz="1100" b="1">
                          <a:solidFill>
                            <a:srgbClr val="FFFFFF"/>
                          </a:solidFill>
                        </a:rPr>
                        <a:t>What's true</a:t>
                      </a:r>
                    </a:p>
                  </a:txBody>
                  <a:tcPr>
                    <a:solidFill>
                      <a:srgbClr val="1A1A2E"/>
                    </a:solidFill>
                  </a:tcPr>
                </a:tc>
              </a:tr>
              <a:tr h="411480">
                <a:tc>
                  <a:txBody>
                    <a:bodyPr/>
                    <a:lstStyle/>
                    <a:p>
                      <a:r>
                        <a:rPr sz="1100"/>
                        <a:t>Phase 1 success-gate hit</a:t>
                      </a:r>
                    </a:p>
                  </a:txBody>
                  <a:tcPr/>
                </a:tc>
                <a:tc>
                  <a:txBody>
                    <a:bodyPr/>
                    <a:lstStyle/>
                    <a:p>
                      <a:r>
                        <a:rPr sz="1100"/>
                        <a:t>Month 3</a:t>
                      </a:r>
                    </a:p>
                  </a:txBody>
                  <a:tcPr/>
                </a:tc>
                <a:tc>
                  <a:txBody>
                    <a:bodyPr/>
                    <a:lstStyle/>
                    <a:p>
                      <a:r>
                        <a:rPr sz="1100"/>
                        <a:t>3 LOIs + 10 pre-orders</a:t>
                      </a:r>
                    </a:p>
                  </a:txBody>
                  <a:tcPr/>
                </a:tc>
              </a:tr>
              <a:tr h="411480">
                <a:tc>
                  <a:txBody>
                    <a:bodyPr/>
                    <a:lstStyle/>
                    <a:p>
                      <a:r>
                        <a:rPr sz="1100"/>
                        <a:t>First B2B tenant onboarded</a:t>
                      </a:r>
                    </a:p>
                  </a:txBody>
                  <a:tcPr/>
                </a:tc>
                <a:tc>
                  <a:txBody>
                    <a:bodyPr/>
                    <a:lstStyle/>
                    <a:p>
                      <a:r>
                        <a:rPr sz="1100"/>
                        <a:t>Month 4</a:t>
                      </a:r>
                    </a:p>
                  </a:txBody>
                  <a:tcPr/>
                </a:tc>
                <a:tc>
                  <a:txBody>
                    <a:bodyPr/>
                    <a:lstStyle/>
                    <a:p>
                      <a:r>
                        <a:rPr sz="1100"/>
                        <a:t>$1k MRR</a:t>
                      </a:r>
                    </a:p>
                  </a:txBody>
                  <a:tcPr/>
                </a:tc>
              </a:tr>
              <a:tr h="411480">
                <a:tc>
                  <a:txBody>
                    <a:bodyPr/>
                    <a:lstStyle/>
                    <a:p>
                      <a:r>
                        <a:rPr sz="1100"/>
                        <a:t>5 B2B tenants</a:t>
                      </a:r>
                    </a:p>
                  </a:txBody>
                  <a:tcPr/>
                </a:tc>
                <a:tc>
                  <a:txBody>
                    <a:bodyPr/>
                    <a:lstStyle/>
                    <a:p>
                      <a:r>
                        <a:rPr sz="1100"/>
                        <a:t>Month 6</a:t>
                      </a:r>
                    </a:p>
                  </a:txBody>
                  <a:tcPr/>
                </a:tc>
                <a:tc>
                  <a:txBody>
                    <a:bodyPr/>
                    <a:lstStyle/>
                    <a:p>
                      <a:r>
                        <a:rPr sz="1100"/>
                        <a:t>$5–10k MRR</a:t>
                      </a:r>
                    </a:p>
                  </a:txBody>
                  <a:tcPr/>
                </a:tc>
              </a:tr>
              <a:tr h="411480">
                <a:tc>
                  <a:txBody>
                    <a:bodyPr/>
                    <a:lstStyle/>
                    <a:p>
                      <a:r>
                        <a:rPr sz="1100"/>
                        <a:t>100 B2C Pro + 20 B2B</a:t>
                      </a:r>
                    </a:p>
                  </a:txBody>
                  <a:tcPr/>
                </a:tc>
                <a:tc>
                  <a:txBody>
                    <a:bodyPr/>
                    <a:lstStyle/>
                    <a:p>
                      <a:r>
                        <a:rPr sz="1100"/>
                        <a:t>Month 12</a:t>
                      </a:r>
                    </a:p>
                  </a:txBody>
                  <a:tcPr/>
                </a:tc>
                <a:tc>
                  <a:txBody>
                    <a:bodyPr/>
                    <a:lstStyle/>
                    <a:p>
                      <a:r>
                        <a:rPr sz="1100"/>
                        <a:t>~$25k MRR</a:t>
                      </a:r>
                    </a:p>
                  </a:txBody>
                  <a:tcPr/>
                </a:tc>
              </a:tr>
              <a:tr h="411480">
                <a:tc>
                  <a:txBody>
                    <a:bodyPr/>
                    <a:lstStyle/>
                    <a:p>
                      <a:r>
                        <a:rPr sz="1100"/>
                        <a:t>Mid-market deal closes</a:t>
                      </a:r>
                    </a:p>
                  </a:txBody>
                  <a:tcPr/>
                </a:tc>
                <a:tc>
                  <a:txBody>
                    <a:bodyPr/>
                    <a:lstStyle/>
                    <a:p>
                      <a:r>
                        <a:rPr sz="1100"/>
                        <a:t>Month 18</a:t>
                      </a:r>
                    </a:p>
                  </a:txBody>
                  <a:tcPr/>
                </a:tc>
                <a:tc>
                  <a:txBody>
                    <a:bodyPr/>
                    <a:lstStyle/>
                    <a:p>
                      <a:r>
                        <a:rPr sz="1100"/>
                        <a:t>$15k+ MRR from one tenant</a:t>
                      </a:r>
                    </a:p>
                  </a:txBody>
                  <a:tcPr/>
                </a:tc>
              </a:tr>
              <a:tr h="411480">
                <a:tc>
                  <a:txBody>
                    <a:bodyPr/>
                    <a:lstStyle/>
                    <a:p>
                      <a:r>
                        <a:rPr sz="1100"/>
                        <a:t>$100k MRR</a:t>
                      </a:r>
                    </a:p>
                  </a:txBody>
                  <a:tcPr/>
                </a:tc>
                <a:tc>
                  <a:txBody>
                    <a:bodyPr/>
                    <a:lstStyle/>
                    <a:p>
                      <a:r>
                        <a:rPr sz="1100"/>
                        <a:t>Month 24–30</a:t>
                      </a:r>
                    </a:p>
                  </a:txBody>
                  <a:tcPr/>
                </a:tc>
                <a:tc>
                  <a:txBody>
                    <a:bodyPr/>
                    <a:lstStyle/>
                    <a:p>
                      <a:r>
                        <a:rPr sz="1100"/>
                        <a:t>Mix of ~50 B2B tenants and ~1k B2C Pro</a:t>
                      </a:r>
                    </a:p>
                  </a:txBody>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914400"/>
          </a:xfrm>
          <a:prstGeom prst="rect">
            <a:avLst/>
          </a:prstGeom>
          <a:noFill/>
        </p:spPr>
        <p:txBody>
          <a:bodyPr wrap="square">
            <a:spAutoFit/>
          </a:bodyPr>
          <a:lstStyle/>
          <a:p>
            <a:pPr algn="l"/>
            <a:r>
              <a:rPr sz="2800" b="1">
                <a:solidFill>
                  <a:srgbClr val="1A1A2E"/>
                </a:solidFill>
              </a:rPr>
              <a:t>Risks the investor should evaluate</a:t>
            </a:r>
          </a:p>
        </p:txBody>
      </p:sp>
      <p:sp>
        <p:nvSpPr>
          <p:cNvPr id="3" name="TextBox 2"/>
          <p:cNvSpPr txBox="1"/>
          <p:nvPr/>
        </p:nvSpPr>
        <p:spPr>
          <a:xfrm>
            <a:off x="457200" y="1280160"/>
            <a:ext cx="11247120" cy="5303520"/>
          </a:xfrm>
          <a:prstGeom prst="rect">
            <a:avLst/>
          </a:prstGeom>
          <a:noFill/>
        </p:spPr>
        <p:txBody>
          <a:bodyPr wrap="square">
            <a:spAutoFit/>
          </a:bodyPr>
          <a:lstStyle/>
          <a:p/>
        </p:txBody>
      </p:sp>
      <p:graphicFrame>
        <p:nvGraphicFramePr>
          <p:cNvPr id="4" name="Table 3"/>
          <p:cNvGraphicFramePr>
            <a:graphicFrameLocks noGrp="1"/>
          </p:cNvGraphicFramePr>
          <p:nvPr/>
        </p:nvGraphicFramePr>
        <p:xfrm>
          <a:off x="457200" y="1828800"/>
          <a:ext cx="11247120" cy="2880360"/>
        </p:xfrm>
        <a:graphic>
          <a:graphicData uri="http://schemas.openxmlformats.org/drawingml/2006/table">
            <a:tbl>
              <a:tblPr firstRow="1" bandRow="1">
                <a:tableStyleId>{5C22544A-7EE6-4342-B048-85BDC9FD1C3A}</a:tableStyleId>
              </a:tblPr>
              <a:tblGrid>
                <a:gridCol w="5623560"/>
                <a:gridCol w="5623560"/>
              </a:tblGrid>
              <a:tr h="411480">
                <a:tc>
                  <a:txBody>
                    <a:bodyPr/>
                    <a:lstStyle/>
                    <a:p>
                      <a:r>
                        <a:rPr sz="1100" b="1">
                          <a:solidFill>
                            <a:srgbClr val="FFFFFF"/>
                          </a:solidFill>
                        </a:rPr>
                        <a:t>Risk</a:t>
                      </a:r>
                    </a:p>
                  </a:txBody>
                  <a:tcPr>
                    <a:solidFill>
                      <a:srgbClr val="1A1A2E"/>
                    </a:solidFill>
                  </a:tcPr>
                </a:tc>
                <a:tc>
                  <a:txBody>
                    <a:bodyPr/>
                    <a:lstStyle/>
                    <a:p>
                      <a:r>
                        <a:rPr sz="1100" b="1">
                          <a:solidFill>
                            <a:srgbClr val="FFFFFF"/>
                          </a:solidFill>
                        </a:rPr>
                        <a:t>Mitigation</a:t>
                      </a:r>
                    </a:p>
                  </a:txBody>
                  <a:tcPr>
                    <a:solidFill>
                      <a:srgbClr val="1A1A2E"/>
                    </a:solidFill>
                  </a:tcPr>
                </a:tc>
              </a:tr>
              <a:tr h="411480">
                <a:tc>
                  <a:txBody>
                    <a:bodyPr/>
                    <a:lstStyle/>
                    <a:p>
                      <a:r>
                        <a:rPr sz="1100"/>
                        <a:t>Founder bandwidth — solo operator, side-bet shape</a:t>
                      </a:r>
                    </a:p>
                  </a:txBody>
                  <a:tcPr/>
                </a:tc>
                <a:tc>
                  <a:txBody>
                    <a:bodyPr/>
                    <a:lstStyle/>
                    <a:p>
                      <a:r>
                        <a:rPr sz="1100"/>
                        <a:t>Phase 1 designed for ~18 days of build; Phase 2 staffs only after revenue exists</a:t>
                      </a:r>
                    </a:p>
                  </a:txBody>
                  <a:tcPr/>
                </a:tc>
              </a:tr>
              <a:tr h="411480">
                <a:tc>
                  <a:txBody>
                    <a:bodyPr/>
                    <a:lstStyle/>
                    <a:p>
                      <a:r>
                        <a:rPr sz="1100"/>
                        <a:t>AI cost spirals at scale</a:t>
                      </a:r>
                    </a:p>
                  </a:txBody>
                  <a:tcPr/>
                </a:tc>
                <a:tc>
                  <a:txBody>
                    <a:bodyPr/>
                    <a:lstStyle/>
                    <a:p>
                      <a:r>
                        <a:rPr sz="1100"/>
                        <a:t>Per-tenant monthly token budget, server-enforced, with UI burn meter</a:t>
                      </a:r>
                    </a:p>
                  </a:txBody>
                  <a:tcPr/>
                </a:tc>
              </a:tr>
              <a:tr h="411480">
                <a:tc>
                  <a:txBody>
                    <a:bodyPr/>
                    <a:lstStyle/>
                    <a:p>
                      <a:r>
                        <a:rPr sz="1100"/>
                        <a:t>Quality incident reaches a learner</a:t>
                      </a:r>
                    </a:p>
                  </a:txBody>
                  <a:tcPr/>
                </a:tc>
                <a:tc>
                  <a:txBody>
                    <a:bodyPr/>
                    <a:lstStyle/>
                    <a:p>
                      <a:r>
                        <a:rPr sz="1100"/>
                        <a:t>23-failure-mode validator + Opus critic + post-publish signals + pause-not-pull</a:t>
                      </a:r>
                    </a:p>
                  </a:txBody>
                  <a:tcPr/>
                </a:tc>
              </a:tr>
              <a:tr h="411480">
                <a:tc>
                  <a:txBody>
                    <a:bodyPr/>
                    <a:lstStyle/>
                    <a:p>
                      <a:r>
                        <a:rPr sz="1100"/>
                        <a:t>Enterprise won't accept AI content</a:t>
                      </a:r>
                    </a:p>
                  </a:txBody>
                  <a:tcPr/>
                </a:tc>
                <a:tc>
                  <a:txBody>
                    <a:bodyPr/>
                    <a:lstStyle/>
                    <a:p>
                      <a:r>
                        <a:rPr sz="1100"/>
                        <a:t>B2B default = human-required; auto-publish is opt-in only</a:t>
                      </a:r>
                    </a:p>
                  </a:txBody>
                  <a:tcPr/>
                </a:tc>
              </a:tr>
              <a:tr h="411480">
                <a:tc>
                  <a:txBody>
                    <a:bodyPr/>
                    <a:lstStyle/>
                    <a:p>
                      <a:r>
                        <a:rPr sz="1100"/>
                        <a:t>Vendor dependency (Anthropic, Clerk, etc.)</a:t>
                      </a:r>
                    </a:p>
                  </a:txBody>
                  <a:tcPr/>
                </a:tc>
                <a:tc>
                  <a:txBody>
                    <a:bodyPr/>
                    <a:lstStyle/>
                    <a:p>
                      <a:r>
                        <a:rPr sz="1100"/>
                        <a:t>Data shapes are portable; cross-vendor critic is a v2 escape hatch</a:t>
                      </a:r>
                    </a:p>
                  </a:txBody>
                  <a:tcPr/>
                </a:tc>
              </a:tr>
              <a:tr h="411480">
                <a:tc>
                  <a:txBody>
                    <a:bodyPr/>
                    <a:lstStyle/>
                    <a:p>
                      <a:r>
                        <a:rPr sz="1100"/>
                        <a:t>TAM is overstated</a:t>
                      </a:r>
                    </a:p>
                  </a:txBody>
                  <a:tcPr/>
                </a:tc>
                <a:tc>
                  <a:txBody>
                    <a:bodyPr/>
                    <a:lstStyle/>
                    <a:p>
                      <a:r>
                        <a:rPr sz="1100"/>
                        <a:t>Even 0.05% share of corporate compliance L&amp;D = $25M ARR; we don't need a category-king outcome</a:t>
                      </a:r>
                    </a:p>
                  </a:txBody>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914400"/>
          </a:xfrm>
          <a:prstGeom prst="rect">
            <a:avLst/>
          </a:prstGeom>
          <a:noFill/>
        </p:spPr>
        <p:txBody>
          <a:bodyPr wrap="square">
            <a:spAutoFit/>
          </a:bodyPr>
          <a:lstStyle/>
          <a:p>
            <a:pPr algn="l"/>
            <a:r>
              <a:rPr sz="2800" b="1">
                <a:solidFill>
                  <a:srgbClr val="1A1A2E"/>
                </a:solidFill>
              </a:rPr>
              <a:t>What we're asking for</a:t>
            </a:r>
          </a:p>
        </p:txBody>
      </p:sp>
      <p:sp>
        <p:nvSpPr>
          <p:cNvPr id="3" name="TextBox 2"/>
          <p:cNvSpPr txBox="1"/>
          <p:nvPr/>
        </p:nvSpPr>
        <p:spPr>
          <a:xfrm>
            <a:off x="457200" y="1280160"/>
            <a:ext cx="11247120" cy="5303520"/>
          </a:xfrm>
          <a:prstGeom prst="rect">
            <a:avLst/>
          </a:prstGeom>
          <a:noFill/>
        </p:spPr>
        <p:txBody>
          <a:bodyPr wrap="square">
            <a:spAutoFit/>
          </a:bodyPr>
          <a:lstStyle/>
          <a:p>
            <a:pPr algn="l">
              <a:spcAft>
                <a:spcPts val="800"/>
              </a:spcAft>
            </a:pPr>
            <a:r>
              <a:rPr sz="1800"/>
              <a:t>Not raising capital. This deck is for advisors and warm intros, not investors yet.</a:t>
            </a:r>
          </a:p>
          <a:p>
            <a:pPr algn="l">
              <a:spcAft>
                <a:spcPts val="800"/>
              </a:spcAft>
            </a:pPr>
            <a:r>
              <a:rPr sz="1800"/>
              <a:t>What helps right now:</a:t>
            </a:r>
          </a:p>
          <a:p>
            <a:pPr/>
            <a:r>
              <a:rPr sz="1600"/>
              <a:t>Honest critique of the two-phase strategy and the Phase 1 success metric.</a:t>
            </a:r>
          </a:p>
          <a:p>
            <a:pPr/>
            <a:r>
              <a:rPr sz="1600"/>
              <a:t>B2B prospect intros — anyone with HR / L&amp;D buying authority at SMB / mid-market.</a:t>
            </a:r>
          </a:p>
          <a:p>
            <a:pPr/>
            <a:r>
              <a:rPr sz="1600"/>
              <a:t>Reality check on pricing — does the $5–15/seat range hold for your network?</a:t>
            </a:r>
          </a:p>
          <a:p>
            <a:pPr>
              <a:spcAft>
                <a:spcPts val="600"/>
              </a:spcAft>
            </a:pPr>
            <a:r>
              <a:rPr sz="1600"/>
              <a:t>Once Phase 1 hits the success gate, intros to seed-stage SaaS investors who back capital-efficient founders.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914400"/>
          </a:xfrm>
          <a:prstGeom prst="rect">
            <a:avLst/>
          </a:prstGeom>
          <a:noFill/>
        </p:spPr>
        <p:txBody>
          <a:bodyPr wrap="square">
            <a:spAutoFit/>
          </a:bodyPr>
          <a:lstStyle/>
          <a:p>
            <a:pPr algn="l"/>
            <a:r>
              <a:rPr sz="2800" b="1">
                <a:solidFill>
                  <a:srgbClr val="1A1A2E"/>
                </a:solidFill>
              </a:rPr>
              <a:t>In one sentence</a:t>
            </a:r>
          </a:p>
        </p:txBody>
      </p:sp>
      <p:sp>
        <p:nvSpPr>
          <p:cNvPr id="3" name="TextBox 2"/>
          <p:cNvSpPr txBox="1"/>
          <p:nvPr/>
        </p:nvSpPr>
        <p:spPr>
          <a:xfrm>
            <a:off x="457200" y="1280160"/>
            <a:ext cx="11247120" cy="5303520"/>
          </a:xfrm>
          <a:prstGeom prst="rect">
            <a:avLst/>
          </a:prstGeom>
          <a:noFill/>
        </p:spPr>
        <p:txBody>
          <a:bodyPr wrap="square">
            <a:spAutoFit/>
          </a:bodyPr>
          <a:lstStyle/>
          <a:p>
            <a:pPr>
              <a:spcAft>
                <a:spcPts val="600"/>
              </a:spcAft>
            </a:pPr>
            <a:r>
              <a:rPr sz="1800" i="1">
                <a:solidFill>
                  <a:srgbClr val="4A4A6E"/>
                </a:solidFill>
              </a:rPr>
              <a:t>We've designed a SaaS that proves people will pay for it before we spend a dollar on the expensive part — and we have a moat (the validator + HITL loop) that's already half-built in a personal repo.</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914400"/>
          </a:xfrm>
          <a:prstGeom prst="rect">
            <a:avLst/>
          </a:prstGeom>
          <a:noFill/>
        </p:spPr>
        <p:txBody>
          <a:bodyPr wrap="square">
            <a:spAutoFit/>
          </a:bodyPr>
          <a:lstStyle/>
          <a:p>
            <a:pPr algn="l"/>
            <a:r>
              <a:rPr sz="2800" b="1">
                <a:solidFill>
                  <a:srgbClr val="1A1A2E"/>
                </a:solidFill>
              </a:rPr>
              <a:t>Appendix — fast facts</a:t>
            </a:r>
          </a:p>
        </p:txBody>
      </p:sp>
      <p:sp>
        <p:nvSpPr>
          <p:cNvPr id="3" name="TextBox 2"/>
          <p:cNvSpPr txBox="1"/>
          <p:nvPr/>
        </p:nvSpPr>
        <p:spPr>
          <a:xfrm>
            <a:off x="457200" y="1280160"/>
            <a:ext cx="11247120" cy="5303520"/>
          </a:xfrm>
          <a:prstGeom prst="rect">
            <a:avLst/>
          </a:prstGeom>
          <a:noFill/>
        </p:spPr>
        <p:txBody>
          <a:bodyPr wrap="square">
            <a:spAutoFit/>
          </a:bodyPr>
          <a:lstStyle/>
          <a:p>
            <a:pPr/>
            <a:r>
              <a:rPr sz="1600"/>
              <a:t>Status: pre-launch; Phase 1 build in progress.</a:t>
            </a:r>
          </a:p>
          <a:p>
            <a:pPr/>
            <a:r>
              <a:rPr sz="1600"/>
              <a:t>Repo: existing CCA-F study tooling at /web/ (Next.js, Playwright, Vitest, content-pack runtime).</a:t>
            </a:r>
          </a:p>
          <a:p>
            <a:pPr/>
            <a:r>
              <a:rPr sz="1600"/>
              <a:t>Tech stack: Next.js, Postgres (Neon), Cloudflare R2, Clerk, Drizzle, Tailwind v4. No exotic stack.</a:t>
            </a:r>
          </a:p>
          <a:p>
            <a:pPr/>
            <a:r>
              <a:rPr sz="1600"/>
              <a:t>First-customer ask: $0 cash; 60-day pilot; success criteria mutually defined.</a:t>
            </a:r>
          </a:p>
          <a:p>
            <a:pPr>
              <a:spcAft>
                <a:spcPts val="600"/>
              </a:spcAft>
            </a:pPr>
            <a:r>
              <a:rPr sz="1600"/>
              <a:t>Detailed plan: ./content-pack-management-plan.md.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